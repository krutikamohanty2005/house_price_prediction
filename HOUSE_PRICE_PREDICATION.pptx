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68C49C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571" r:id="rId3"/>
    <p:sldId id="572" r:id="rId4"/>
    <p:sldId id="573" r:id="rId5"/>
    <p:sldId id="580" r:id="rId6"/>
    <p:sldId id="574" r:id="rId7"/>
    <p:sldId id="581" r:id="rId8"/>
    <p:sldId id="575" r:id="rId9"/>
    <p:sldId id="582" r:id="rId10"/>
    <p:sldId id="584" r:id="rId11"/>
    <p:sldId id="576" r:id="rId12"/>
    <p:sldId id="585" r:id="rId13"/>
    <p:sldId id="586" r:id="rId14"/>
    <p:sldId id="587" r:id="rId15"/>
    <p:sldId id="577" r:id="rId16"/>
    <p:sldId id="579" r:id="rId17"/>
    <p:sldId id="578" r:id="rId18"/>
    <p:sldId id="570" r:id="rId1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EE5040-99CC-1443-0ED3-7CE099E852E5}" name="KRUTIKA MOHANTY" initials="KM" userId="907c613d3ec7c9e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AD524-221B-4224-8545-5CAF7DD60009}" v="70" dt="2025-07-13T15:17:41.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TIKA MOHANTY" userId="907c613d3ec7c9e2" providerId="LiveId" clId="{37CAD524-221B-4224-8545-5CAF7DD60009}"/>
    <pc:docChg chg="undo redo custSel addSld delSld modSld sldOrd">
      <pc:chgData name="KRUTIKA MOHANTY" userId="907c613d3ec7c9e2" providerId="LiveId" clId="{37CAD524-221B-4224-8545-5CAF7DD60009}" dt="2025-07-13T15:37:06.191" v="7531" actId="20577"/>
      <pc:docMkLst>
        <pc:docMk/>
      </pc:docMkLst>
      <pc:sldChg chg="addSp modSp mod">
        <pc:chgData name="KRUTIKA MOHANTY" userId="907c613d3ec7c9e2" providerId="LiveId" clId="{37CAD524-221B-4224-8545-5CAF7DD60009}" dt="2025-07-12T15:40:23.664" v="525" actId="1076"/>
        <pc:sldMkLst>
          <pc:docMk/>
          <pc:sldMk cId="109857222" sldId="256"/>
        </pc:sldMkLst>
        <pc:spChg chg="mod">
          <ac:chgData name="KRUTIKA MOHANTY" userId="907c613d3ec7c9e2" providerId="LiveId" clId="{37CAD524-221B-4224-8545-5CAF7DD60009}" dt="2025-07-12T15:28:05.742" v="219" actId="20577"/>
          <ac:spMkLst>
            <pc:docMk/>
            <pc:sldMk cId="109857222" sldId="256"/>
            <ac:spMk id="2" creationId="{00000000-0000-0000-0000-000000000000}"/>
          </ac:spMkLst>
        </pc:spChg>
        <pc:spChg chg="mod">
          <ac:chgData name="KRUTIKA MOHANTY" userId="907c613d3ec7c9e2" providerId="LiveId" clId="{37CAD524-221B-4224-8545-5CAF7DD60009}" dt="2025-07-12T15:38:00.970" v="512" actId="20577"/>
          <ac:spMkLst>
            <pc:docMk/>
            <pc:sldMk cId="109857222" sldId="256"/>
            <ac:spMk id="3" creationId="{00000000-0000-0000-0000-000000000000}"/>
          </ac:spMkLst>
        </pc:spChg>
        <pc:picChg chg="mod">
          <ac:chgData name="KRUTIKA MOHANTY" userId="907c613d3ec7c9e2" providerId="LiveId" clId="{37CAD524-221B-4224-8545-5CAF7DD60009}" dt="2025-07-12T15:39:07.066" v="518" actId="1076"/>
          <ac:picMkLst>
            <pc:docMk/>
            <pc:sldMk cId="109857222" sldId="256"/>
            <ac:picMk id="5" creationId="{B4288F3F-AD4C-81EA-1336-D2C00EFCC479}"/>
          </ac:picMkLst>
        </pc:picChg>
        <pc:picChg chg="add mod">
          <ac:chgData name="KRUTIKA MOHANTY" userId="907c613d3ec7c9e2" providerId="LiveId" clId="{37CAD524-221B-4224-8545-5CAF7DD60009}" dt="2025-07-12T15:40:23.664" v="525" actId="1076"/>
          <ac:picMkLst>
            <pc:docMk/>
            <pc:sldMk cId="109857222" sldId="256"/>
            <ac:picMk id="6" creationId="{3C72E7A9-A3A1-701F-BA67-D21995F0CD15}"/>
          </ac:picMkLst>
        </pc:picChg>
      </pc:sldChg>
      <pc:sldChg chg="modSp mod">
        <pc:chgData name="KRUTIKA MOHANTY" userId="907c613d3ec7c9e2" providerId="LiveId" clId="{37CAD524-221B-4224-8545-5CAF7DD60009}" dt="2025-07-12T15:46:49.099" v="710" actId="5793"/>
        <pc:sldMkLst>
          <pc:docMk/>
          <pc:sldMk cId="2817874764" sldId="571"/>
        </pc:sldMkLst>
        <pc:spChg chg="mod">
          <ac:chgData name="KRUTIKA MOHANTY" userId="907c613d3ec7c9e2" providerId="LiveId" clId="{37CAD524-221B-4224-8545-5CAF7DD60009}" dt="2025-07-12T15:46:49.099" v="710" actId="5793"/>
          <ac:spMkLst>
            <pc:docMk/>
            <pc:sldMk cId="2817874764" sldId="571"/>
            <ac:spMk id="3" creationId="{1C04173D-62A9-AF06-B476-EEB827087147}"/>
          </ac:spMkLst>
        </pc:spChg>
      </pc:sldChg>
      <pc:sldChg chg="modSp mod">
        <pc:chgData name="KRUTIKA MOHANTY" userId="907c613d3ec7c9e2" providerId="LiveId" clId="{37CAD524-221B-4224-8545-5CAF7DD60009}" dt="2025-07-13T10:27:33.513" v="5851" actId="20577"/>
        <pc:sldMkLst>
          <pc:docMk/>
          <pc:sldMk cId="3372914246" sldId="572"/>
        </pc:sldMkLst>
        <pc:spChg chg="mod">
          <ac:chgData name="KRUTIKA MOHANTY" userId="907c613d3ec7c9e2" providerId="LiveId" clId="{37CAD524-221B-4224-8545-5CAF7DD60009}" dt="2025-07-13T10:27:33.513" v="5851" actId="20577"/>
          <ac:spMkLst>
            <pc:docMk/>
            <pc:sldMk cId="3372914246" sldId="572"/>
            <ac:spMk id="3" creationId="{28E8C97F-5AC9-F1CA-3CCC-090D5B13989A}"/>
          </ac:spMkLst>
        </pc:spChg>
      </pc:sldChg>
      <pc:sldChg chg="addSp delSp modSp mod">
        <pc:chgData name="KRUTIKA MOHANTY" userId="907c613d3ec7c9e2" providerId="LiveId" clId="{37CAD524-221B-4224-8545-5CAF7DD60009}" dt="2025-07-13T15:16:51.576" v="7518" actId="255"/>
        <pc:sldMkLst>
          <pc:docMk/>
          <pc:sldMk cId="204139634" sldId="573"/>
        </pc:sldMkLst>
        <pc:spChg chg="mod">
          <ac:chgData name="KRUTIKA MOHANTY" userId="907c613d3ec7c9e2" providerId="LiveId" clId="{37CAD524-221B-4224-8545-5CAF7DD60009}" dt="2025-07-13T05:25:18.211" v="2744" actId="1076"/>
          <ac:spMkLst>
            <pc:docMk/>
            <pc:sldMk cId="204139634" sldId="573"/>
            <ac:spMk id="2" creationId="{AD27B4B1-584E-2479-D762-2265C7398D27}"/>
          </ac:spMkLst>
        </pc:spChg>
        <pc:spChg chg="mod">
          <ac:chgData name="KRUTIKA MOHANTY" userId="907c613d3ec7c9e2" providerId="LiveId" clId="{37CAD524-221B-4224-8545-5CAF7DD60009}" dt="2025-07-13T15:16:51.576" v="7518" actId="255"/>
          <ac:spMkLst>
            <pc:docMk/>
            <pc:sldMk cId="204139634" sldId="573"/>
            <ac:spMk id="3" creationId="{AF67202D-4065-DDD7-98F1-4291C536D1A3}"/>
          </ac:spMkLst>
        </pc:spChg>
        <pc:spChg chg="add del">
          <ac:chgData name="KRUTIKA MOHANTY" userId="907c613d3ec7c9e2" providerId="LiveId" clId="{37CAD524-221B-4224-8545-5CAF7DD60009}" dt="2025-07-13T05:08:44.810" v="2248" actId="22"/>
          <ac:spMkLst>
            <pc:docMk/>
            <pc:sldMk cId="204139634" sldId="573"/>
            <ac:spMk id="5" creationId="{2BCBF84C-722E-200E-7880-F993CE83BDEA}"/>
          </ac:spMkLst>
        </pc:spChg>
      </pc:sldChg>
      <pc:sldChg chg="addSp delSp modSp mod">
        <pc:chgData name="KRUTIKA MOHANTY" userId="907c613d3ec7c9e2" providerId="LiveId" clId="{37CAD524-221B-4224-8545-5CAF7DD60009}" dt="2025-07-13T10:29:08.834" v="5853" actId="255"/>
        <pc:sldMkLst>
          <pc:docMk/>
          <pc:sldMk cId="3501125123" sldId="574"/>
        </pc:sldMkLst>
        <pc:spChg chg="add del mod">
          <ac:chgData name="KRUTIKA MOHANTY" userId="907c613d3ec7c9e2" providerId="LiveId" clId="{37CAD524-221B-4224-8545-5CAF7DD60009}" dt="2025-07-13T10:29:08.834" v="5853" actId="255"/>
          <ac:spMkLst>
            <pc:docMk/>
            <pc:sldMk cId="3501125123" sldId="574"/>
            <ac:spMk id="3" creationId="{FE07E8EE-7F26-D809-3523-C58876935A4E}"/>
          </ac:spMkLst>
        </pc:spChg>
        <pc:picChg chg="add mod">
          <ac:chgData name="KRUTIKA MOHANTY" userId="907c613d3ec7c9e2" providerId="LiveId" clId="{37CAD524-221B-4224-8545-5CAF7DD60009}" dt="2025-07-13T05:52:33.192" v="3326"/>
          <ac:picMkLst>
            <pc:docMk/>
            <pc:sldMk cId="3501125123" sldId="574"/>
            <ac:picMk id="5" creationId="{A9E4EBCC-37B9-F497-386C-90B333C8FB04}"/>
          </ac:picMkLst>
        </pc:picChg>
      </pc:sldChg>
      <pc:sldChg chg="addSp modSp mod">
        <pc:chgData name="KRUTIKA MOHANTY" userId="907c613d3ec7c9e2" providerId="LiveId" clId="{37CAD524-221B-4224-8545-5CAF7DD60009}" dt="2025-07-13T07:14:47.627" v="4817" actId="1076"/>
        <pc:sldMkLst>
          <pc:docMk/>
          <pc:sldMk cId="1199084396" sldId="575"/>
        </pc:sldMkLst>
        <pc:spChg chg="mod">
          <ac:chgData name="KRUTIKA MOHANTY" userId="907c613d3ec7c9e2" providerId="LiveId" clId="{37CAD524-221B-4224-8545-5CAF7DD60009}" dt="2025-07-13T07:14:42.553" v="4816" actId="1076"/>
          <ac:spMkLst>
            <pc:docMk/>
            <pc:sldMk cId="1199084396" sldId="575"/>
            <ac:spMk id="3" creationId="{B5107410-DE3D-5F62-F9D7-11EAEA92F0BB}"/>
          </ac:spMkLst>
        </pc:spChg>
        <pc:picChg chg="add mod">
          <ac:chgData name="KRUTIKA MOHANTY" userId="907c613d3ec7c9e2" providerId="LiveId" clId="{37CAD524-221B-4224-8545-5CAF7DD60009}" dt="2025-07-13T07:11:37.780" v="4646"/>
          <ac:picMkLst>
            <pc:docMk/>
            <pc:sldMk cId="1199084396" sldId="575"/>
            <ac:picMk id="5" creationId="{52003D1B-12F7-49D4-7DFB-965AF1A22FFE}"/>
          </ac:picMkLst>
        </pc:picChg>
        <pc:picChg chg="add mod">
          <ac:chgData name="KRUTIKA MOHANTY" userId="907c613d3ec7c9e2" providerId="LiveId" clId="{37CAD524-221B-4224-8545-5CAF7DD60009}" dt="2025-07-13T07:14:47.627" v="4817" actId="1076"/>
          <ac:picMkLst>
            <pc:docMk/>
            <pc:sldMk cId="1199084396" sldId="575"/>
            <ac:picMk id="7" creationId="{266157F6-C005-A605-DDB6-9D5E1B997D41}"/>
          </ac:picMkLst>
        </pc:picChg>
      </pc:sldChg>
      <pc:sldChg chg="addSp delSp modSp mod">
        <pc:chgData name="KRUTIKA MOHANTY" userId="907c613d3ec7c9e2" providerId="LiveId" clId="{37CAD524-221B-4224-8545-5CAF7DD60009}" dt="2025-07-13T10:47:39.848" v="6612" actId="962"/>
        <pc:sldMkLst>
          <pc:docMk/>
          <pc:sldMk cId="58742533" sldId="576"/>
        </pc:sldMkLst>
        <pc:spChg chg="del mod">
          <ac:chgData name="KRUTIKA MOHANTY" userId="907c613d3ec7c9e2" providerId="LiveId" clId="{37CAD524-221B-4224-8545-5CAF7DD60009}" dt="2025-07-13T10:47:28.468" v="6604"/>
          <ac:spMkLst>
            <pc:docMk/>
            <pc:sldMk cId="58742533" sldId="576"/>
            <ac:spMk id="3" creationId="{66102C9B-C4AF-D0DB-DE74-862D9812001C}"/>
          </ac:spMkLst>
        </pc:spChg>
        <pc:picChg chg="add mod">
          <ac:chgData name="KRUTIKA MOHANTY" userId="907c613d3ec7c9e2" providerId="LiveId" clId="{37CAD524-221B-4224-8545-5CAF7DD60009}" dt="2025-07-13T10:47:39.848" v="6612" actId="962"/>
          <ac:picMkLst>
            <pc:docMk/>
            <pc:sldMk cId="58742533" sldId="576"/>
            <ac:picMk id="5" creationId="{2CCC55F9-3E99-ED55-62D2-FC0CF7962701}"/>
          </ac:picMkLst>
        </pc:picChg>
      </pc:sldChg>
      <pc:sldChg chg="modSp mod">
        <pc:chgData name="KRUTIKA MOHANTY" userId="907c613d3ec7c9e2" providerId="LiveId" clId="{37CAD524-221B-4224-8545-5CAF7DD60009}" dt="2025-07-13T07:20:00.413" v="5520" actId="20577"/>
        <pc:sldMkLst>
          <pc:docMk/>
          <pc:sldMk cId="2245309600" sldId="577"/>
        </pc:sldMkLst>
        <pc:spChg chg="mod">
          <ac:chgData name="KRUTIKA MOHANTY" userId="907c613d3ec7c9e2" providerId="LiveId" clId="{37CAD524-221B-4224-8545-5CAF7DD60009}" dt="2025-07-13T07:20:00.413" v="5520" actId="20577"/>
          <ac:spMkLst>
            <pc:docMk/>
            <pc:sldMk cId="2245309600" sldId="577"/>
            <ac:spMk id="3" creationId="{21789DDB-698E-B624-5621-F9D79482FFED}"/>
          </ac:spMkLst>
        </pc:spChg>
      </pc:sldChg>
      <pc:sldChg chg="modSp mod">
        <pc:chgData name="KRUTIKA MOHANTY" userId="907c613d3ec7c9e2" providerId="LiveId" clId="{37CAD524-221B-4224-8545-5CAF7DD60009}" dt="2025-07-13T15:37:06.191" v="7531" actId="20577"/>
        <pc:sldMkLst>
          <pc:docMk/>
          <pc:sldMk cId="1691700673" sldId="578"/>
        </pc:sldMkLst>
        <pc:spChg chg="mod">
          <ac:chgData name="KRUTIKA MOHANTY" userId="907c613d3ec7c9e2" providerId="LiveId" clId="{37CAD524-221B-4224-8545-5CAF7DD60009}" dt="2025-07-13T15:37:06.191" v="7531" actId="20577"/>
          <ac:spMkLst>
            <pc:docMk/>
            <pc:sldMk cId="1691700673" sldId="578"/>
            <ac:spMk id="3" creationId="{5E6198D1-2392-A218-1A4C-10F40FCB8253}"/>
          </ac:spMkLst>
        </pc:spChg>
      </pc:sldChg>
      <pc:sldChg chg="modSp mod">
        <pc:chgData name="KRUTIKA MOHANTY" userId="907c613d3ec7c9e2" providerId="LiveId" clId="{37CAD524-221B-4224-8545-5CAF7DD60009}" dt="2025-07-13T07:19:37.515" v="5516" actId="255"/>
        <pc:sldMkLst>
          <pc:docMk/>
          <pc:sldMk cId="3744199677" sldId="579"/>
        </pc:sldMkLst>
        <pc:spChg chg="mod">
          <ac:chgData name="KRUTIKA MOHANTY" userId="907c613d3ec7c9e2" providerId="LiveId" clId="{37CAD524-221B-4224-8545-5CAF7DD60009}" dt="2025-07-13T07:19:37.515" v="5516" actId="255"/>
          <ac:spMkLst>
            <pc:docMk/>
            <pc:sldMk cId="3744199677" sldId="579"/>
            <ac:spMk id="3" creationId="{3F2C79AB-5BF9-3911-CAE8-5E44B0DF2236}"/>
          </ac:spMkLst>
        </pc:spChg>
      </pc:sldChg>
      <pc:sldChg chg="addSp modSp new mod">
        <pc:chgData name="KRUTIKA MOHANTY" userId="907c613d3ec7c9e2" providerId="LiveId" clId="{37CAD524-221B-4224-8545-5CAF7DD60009}" dt="2025-07-13T07:26:37.061" v="5832"/>
        <pc:sldMkLst>
          <pc:docMk/>
          <pc:sldMk cId="2239342717" sldId="580"/>
        </pc:sldMkLst>
        <pc:spChg chg="add mod">
          <ac:chgData name="KRUTIKA MOHANTY" userId="907c613d3ec7c9e2" providerId="LiveId" clId="{37CAD524-221B-4224-8545-5CAF7DD60009}" dt="2025-07-13T07:26:37.061" v="5832"/>
          <ac:spMkLst>
            <pc:docMk/>
            <pc:sldMk cId="2239342717" sldId="580"/>
            <ac:spMk id="3" creationId="{F9E95BA0-FBCD-983F-7F6D-D1BBB239E7C9}"/>
          </ac:spMkLst>
        </pc:spChg>
        <pc:picChg chg="add mod">
          <ac:chgData name="KRUTIKA MOHANTY" userId="907c613d3ec7c9e2" providerId="LiveId" clId="{37CAD524-221B-4224-8545-5CAF7DD60009}" dt="2025-07-13T05:47:49.417" v="3307"/>
          <ac:picMkLst>
            <pc:docMk/>
            <pc:sldMk cId="2239342717" sldId="580"/>
            <ac:picMk id="5" creationId="{9747DB85-E55B-7B37-9BE7-EA32DA659619}"/>
          </ac:picMkLst>
        </pc:picChg>
      </pc:sldChg>
      <pc:sldChg chg="addSp delSp modSp new mod ord">
        <pc:chgData name="KRUTIKA MOHANTY" userId="907c613d3ec7c9e2" providerId="LiveId" clId="{37CAD524-221B-4224-8545-5CAF7DD60009}" dt="2025-07-13T07:01:31.190" v="3558" actId="20577"/>
        <pc:sldMkLst>
          <pc:docMk/>
          <pc:sldMk cId="1846990512" sldId="581"/>
        </pc:sldMkLst>
        <pc:spChg chg="add del mod">
          <ac:chgData name="KRUTIKA MOHANTY" userId="907c613d3ec7c9e2" providerId="LiveId" clId="{37CAD524-221B-4224-8545-5CAF7DD60009}" dt="2025-07-13T07:01:31.190" v="3558" actId="20577"/>
          <ac:spMkLst>
            <pc:docMk/>
            <pc:sldMk cId="1846990512" sldId="581"/>
            <ac:spMk id="3" creationId="{2FD58672-F1CC-AC69-3407-3E952E06D2FC}"/>
          </ac:spMkLst>
        </pc:spChg>
        <pc:spChg chg="add del">
          <ac:chgData name="KRUTIKA MOHANTY" userId="907c613d3ec7c9e2" providerId="LiveId" clId="{37CAD524-221B-4224-8545-5CAF7DD60009}" dt="2025-07-13T07:00:14.307" v="3547" actId="22"/>
          <ac:spMkLst>
            <pc:docMk/>
            <pc:sldMk cId="1846990512" sldId="581"/>
            <ac:spMk id="5" creationId="{2A5B5D3A-4F7B-E9A2-1154-81F47B366FC0}"/>
          </ac:spMkLst>
        </pc:spChg>
        <pc:picChg chg="add mod">
          <ac:chgData name="KRUTIKA MOHANTY" userId="907c613d3ec7c9e2" providerId="LiveId" clId="{37CAD524-221B-4224-8545-5CAF7DD60009}" dt="2025-07-13T07:00:57.703" v="3556" actId="1076"/>
          <ac:picMkLst>
            <pc:docMk/>
            <pc:sldMk cId="1846990512" sldId="581"/>
            <ac:picMk id="7" creationId="{00C0CEB3-BA86-2FF7-052A-933F2EBA92BA}"/>
          </ac:picMkLst>
        </pc:picChg>
      </pc:sldChg>
      <pc:sldChg chg="modSp new del mod">
        <pc:chgData name="KRUTIKA MOHANTY" userId="907c613d3ec7c9e2" providerId="LiveId" clId="{37CAD524-221B-4224-8545-5CAF7DD60009}" dt="2025-07-13T06:54:26.701" v="3469" actId="680"/>
        <pc:sldMkLst>
          <pc:docMk/>
          <pc:sldMk cId="1978390110" sldId="581"/>
        </pc:sldMkLst>
        <pc:spChg chg="mod">
          <ac:chgData name="KRUTIKA MOHANTY" userId="907c613d3ec7c9e2" providerId="LiveId" clId="{37CAD524-221B-4224-8545-5CAF7DD60009}" dt="2025-07-13T06:54:25.191" v="3468" actId="1076"/>
          <ac:spMkLst>
            <pc:docMk/>
            <pc:sldMk cId="1978390110" sldId="581"/>
            <ac:spMk id="2" creationId="{B8A90F9E-AABC-8C22-1F11-F12FA00064A3}"/>
          </ac:spMkLst>
        </pc:spChg>
      </pc:sldChg>
      <pc:sldChg chg="modSp new mod">
        <pc:chgData name="KRUTIKA MOHANTY" userId="907c613d3ec7c9e2" providerId="LiveId" clId="{37CAD524-221B-4224-8545-5CAF7DD60009}" dt="2025-07-13T10:38:27.598" v="6136" actId="20577"/>
        <pc:sldMkLst>
          <pc:docMk/>
          <pc:sldMk cId="427268033" sldId="582"/>
        </pc:sldMkLst>
        <pc:spChg chg="mod">
          <ac:chgData name="KRUTIKA MOHANTY" userId="907c613d3ec7c9e2" providerId="LiveId" clId="{37CAD524-221B-4224-8545-5CAF7DD60009}" dt="2025-07-13T10:31:06.038" v="6003" actId="14100"/>
          <ac:spMkLst>
            <pc:docMk/>
            <pc:sldMk cId="427268033" sldId="582"/>
            <ac:spMk id="2" creationId="{448BB6F8-C919-4B09-7957-A49902CEBE1D}"/>
          </ac:spMkLst>
        </pc:spChg>
        <pc:spChg chg="mod">
          <ac:chgData name="KRUTIKA MOHANTY" userId="907c613d3ec7c9e2" providerId="LiveId" clId="{37CAD524-221B-4224-8545-5CAF7DD60009}" dt="2025-07-13T10:38:27.598" v="6136" actId="20577"/>
          <ac:spMkLst>
            <pc:docMk/>
            <pc:sldMk cId="427268033" sldId="582"/>
            <ac:spMk id="3" creationId="{9F2E6947-13DA-773B-862D-9219C355AA18}"/>
          </ac:spMkLst>
        </pc:spChg>
      </pc:sldChg>
      <pc:sldChg chg="new del">
        <pc:chgData name="KRUTIKA MOHANTY" userId="907c613d3ec7c9e2" providerId="LiveId" clId="{37CAD524-221B-4224-8545-5CAF7DD60009}" dt="2025-07-13T07:29:01.367" v="5844" actId="2696"/>
        <pc:sldMkLst>
          <pc:docMk/>
          <pc:sldMk cId="1761995536" sldId="582"/>
        </pc:sldMkLst>
      </pc:sldChg>
      <pc:sldChg chg="modSp new del mod">
        <pc:chgData name="KRUTIKA MOHANTY" userId="907c613d3ec7c9e2" providerId="LiveId" clId="{37CAD524-221B-4224-8545-5CAF7DD60009}" dt="2025-07-13T07:27:29.233" v="5839" actId="2696"/>
        <pc:sldMkLst>
          <pc:docMk/>
          <pc:sldMk cId="1903618155" sldId="582"/>
        </pc:sldMkLst>
        <pc:spChg chg="mod">
          <ac:chgData name="KRUTIKA MOHANTY" userId="907c613d3ec7c9e2" providerId="LiveId" clId="{37CAD524-221B-4224-8545-5CAF7DD60009}" dt="2025-07-13T07:26:51.930" v="5835" actId="20577"/>
          <ac:spMkLst>
            <pc:docMk/>
            <pc:sldMk cId="1903618155" sldId="582"/>
            <ac:spMk id="2" creationId="{D9E4BFA0-353B-A9A9-2C29-F383A48C5522}"/>
          </ac:spMkLst>
        </pc:spChg>
        <pc:spChg chg="mod">
          <ac:chgData name="KRUTIKA MOHANTY" userId="907c613d3ec7c9e2" providerId="LiveId" clId="{37CAD524-221B-4224-8545-5CAF7DD60009}" dt="2025-07-13T07:27:03.776" v="5838" actId="1076"/>
          <ac:spMkLst>
            <pc:docMk/>
            <pc:sldMk cId="1903618155" sldId="582"/>
            <ac:spMk id="3" creationId="{623FC328-AEA8-5B0F-EDD4-D87E89395E1A}"/>
          </ac:spMkLst>
        </pc:spChg>
      </pc:sldChg>
      <pc:sldChg chg="new del">
        <pc:chgData name="KRUTIKA MOHANTY" userId="907c613d3ec7c9e2" providerId="LiveId" clId="{37CAD524-221B-4224-8545-5CAF7DD60009}" dt="2025-07-13T07:22:43.705" v="5813" actId="680"/>
        <pc:sldMkLst>
          <pc:docMk/>
          <pc:sldMk cId="1893653989" sldId="583"/>
        </pc:sldMkLst>
      </pc:sldChg>
      <pc:sldChg chg="add del">
        <pc:chgData name="KRUTIKA MOHANTY" userId="907c613d3ec7c9e2" providerId="LiveId" clId="{37CAD524-221B-4224-8545-5CAF7DD60009}" dt="2025-07-13T10:45:26.698" v="6369" actId="2696"/>
        <pc:sldMkLst>
          <pc:docMk/>
          <pc:sldMk cId="2409243657" sldId="583"/>
        </pc:sldMkLst>
      </pc:sldChg>
      <pc:sldChg chg="add del">
        <pc:chgData name="KRUTIKA MOHANTY" userId="907c613d3ec7c9e2" providerId="LiveId" clId="{37CAD524-221B-4224-8545-5CAF7DD60009}" dt="2025-07-13T07:28:17.650" v="5842" actId="2696"/>
        <pc:sldMkLst>
          <pc:docMk/>
          <pc:sldMk cId="2600156069" sldId="583"/>
        </pc:sldMkLst>
      </pc:sldChg>
      <pc:sldChg chg="new del">
        <pc:chgData name="KRUTIKA MOHANTY" userId="907c613d3ec7c9e2" providerId="LiveId" clId="{37CAD524-221B-4224-8545-5CAF7DD60009}" dt="2025-07-13T10:29:14.991" v="5854" actId="2696"/>
        <pc:sldMkLst>
          <pc:docMk/>
          <pc:sldMk cId="3959131325" sldId="583"/>
        </pc:sldMkLst>
      </pc:sldChg>
      <pc:sldChg chg="new del">
        <pc:chgData name="KRUTIKA MOHANTY" userId="907c613d3ec7c9e2" providerId="LiveId" clId="{37CAD524-221B-4224-8545-5CAF7DD60009}" dt="2025-07-13T07:22:42.005" v="5812" actId="680"/>
        <pc:sldMkLst>
          <pc:docMk/>
          <pc:sldMk cId="247427672" sldId="584"/>
        </pc:sldMkLst>
      </pc:sldChg>
      <pc:sldChg chg="modSp new mod">
        <pc:chgData name="KRUTIKA MOHANTY" userId="907c613d3ec7c9e2" providerId="LiveId" clId="{37CAD524-221B-4224-8545-5CAF7DD60009}" dt="2025-07-13T10:46:02.543" v="6371" actId="20577"/>
        <pc:sldMkLst>
          <pc:docMk/>
          <pc:sldMk cId="1756461312" sldId="584"/>
        </pc:sldMkLst>
        <pc:spChg chg="mod">
          <ac:chgData name="KRUTIKA MOHANTY" userId="907c613d3ec7c9e2" providerId="LiveId" clId="{37CAD524-221B-4224-8545-5CAF7DD60009}" dt="2025-07-13T10:38:58.883" v="6277" actId="20577"/>
          <ac:spMkLst>
            <pc:docMk/>
            <pc:sldMk cId="1756461312" sldId="584"/>
            <ac:spMk id="2" creationId="{EF468DE7-5E4F-27D9-8D72-5BCC2032B5F2}"/>
          </ac:spMkLst>
        </pc:spChg>
        <pc:spChg chg="mod">
          <ac:chgData name="KRUTIKA MOHANTY" userId="907c613d3ec7c9e2" providerId="LiveId" clId="{37CAD524-221B-4224-8545-5CAF7DD60009}" dt="2025-07-13T10:46:02.543" v="6371" actId="20577"/>
          <ac:spMkLst>
            <pc:docMk/>
            <pc:sldMk cId="1756461312" sldId="584"/>
            <ac:spMk id="3" creationId="{3A4E3D7F-49A3-544C-536D-A1F2F086D6B1}"/>
          </ac:spMkLst>
        </pc:spChg>
      </pc:sldChg>
      <pc:sldChg chg="addSp delSp modSp new mod">
        <pc:chgData name="KRUTIKA MOHANTY" userId="907c613d3ec7c9e2" providerId="LiveId" clId="{37CAD524-221B-4224-8545-5CAF7DD60009}" dt="2025-07-13T10:48:59.852" v="6735" actId="14100"/>
        <pc:sldMkLst>
          <pc:docMk/>
          <pc:sldMk cId="164271714" sldId="585"/>
        </pc:sldMkLst>
        <pc:spChg chg="mod">
          <ac:chgData name="KRUTIKA MOHANTY" userId="907c613d3ec7c9e2" providerId="LiveId" clId="{37CAD524-221B-4224-8545-5CAF7DD60009}" dt="2025-07-13T10:48:48.310" v="6733" actId="20577"/>
          <ac:spMkLst>
            <pc:docMk/>
            <pc:sldMk cId="164271714" sldId="585"/>
            <ac:spMk id="2" creationId="{D24E8996-ECC4-8F85-B6AD-E5A386D611E6}"/>
          </ac:spMkLst>
        </pc:spChg>
        <pc:spChg chg="del">
          <ac:chgData name="KRUTIKA MOHANTY" userId="907c613d3ec7c9e2" providerId="LiveId" clId="{37CAD524-221B-4224-8545-5CAF7DD60009}" dt="2025-07-13T10:48:32.210" v="6614"/>
          <ac:spMkLst>
            <pc:docMk/>
            <pc:sldMk cId="164271714" sldId="585"/>
            <ac:spMk id="3" creationId="{C6E61759-75A8-7F0C-7401-AC9F87163364}"/>
          </ac:spMkLst>
        </pc:spChg>
        <pc:picChg chg="add mod">
          <ac:chgData name="KRUTIKA MOHANTY" userId="907c613d3ec7c9e2" providerId="LiveId" clId="{37CAD524-221B-4224-8545-5CAF7DD60009}" dt="2025-07-13T10:48:59.852" v="6735" actId="14100"/>
          <ac:picMkLst>
            <pc:docMk/>
            <pc:sldMk cId="164271714" sldId="585"/>
            <ac:picMk id="5" creationId="{B2E2E52B-9B68-4019-9B9B-47318EF8F56E}"/>
          </ac:picMkLst>
        </pc:picChg>
      </pc:sldChg>
      <pc:sldChg chg="addSp delSp modSp new mod">
        <pc:chgData name="KRUTIKA MOHANTY" userId="907c613d3ec7c9e2" providerId="LiveId" clId="{37CAD524-221B-4224-8545-5CAF7DD60009}" dt="2025-07-13T11:00:11.729" v="6859" actId="20577"/>
        <pc:sldMkLst>
          <pc:docMk/>
          <pc:sldMk cId="4056901681" sldId="586"/>
        </pc:sldMkLst>
        <pc:spChg chg="mod">
          <ac:chgData name="KRUTIKA MOHANTY" userId="907c613d3ec7c9e2" providerId="LiveId" clId="{37CAD524-221B-4224-8545-5CAF7DD60009}" dt="2025-07-13T10:53:34.232" v="6806" actId="14100"/>
          <ac:spMkLst>
            <pc:docMk/>
            <pc:sldMk cId="4056901681" sldId="586"/>
            <ac:spMk id="2" creationId="{86E7B13F-64AF-08E8-ADE3-43617AF9807C}"/>
          </ac:spMkLst>
        </pc:spChg>
        <pc:spChg chg="add del mod">
          <ac:chgData name="KRUTIKA MOHANTY" userId="907c613d3ec7c9e2" providerId="LiveId" clId="{37CAD524-221B-4224-8545-5CAF7DD60009}" dt="2025-07-13T11:00:11.729" v="6859" actId="20577"/>
          <ac:spMkLst>
            <pc:docMk/>
            <pc:sldMk cId="4056901681" sldId="586"/>
            <ac:spMk id="3" creationId="{315DAB84-2C3F-478C-C061-D5FD4BAC64ED}"/>
          </ac:spMkLst>
        </pc:spChg>
        <pc:picChg chg="add mod">
          <ac:chgData name="KRUTIKA MOHANTY" userId="907c613d3ec7c9e2" providerId="LiveId" clId="{37CAD524-221B-4224-8545-5CAF7DD60009}" dt="2025-07-13T10:54:19.793" v="6813"/>
          <ac:picMkLst>
            <pc:docMk/>
            <pc:sldMk cId="4056901681" sldId="586"/>
            <ac:picMk id="5" creationId="{975BBBE4-70AC-B653-2C59-36C26573133D}"/>
          </ac:picMkLst>
        </pc:picChg>
        <pc:picChg chg="add mod">
          <ac:chgData name="KRUTIKA MOHANTY" userId="907c613d3ec7c9e2" providerId="LiveId" clId="{37CAD524-221B-4224-8545-5CAF7DD60009}" dt="2025-07-13T10:55:17.750" v="6826"/>
          <ac:picMkLst>
            <pc:docMk/>
            <pc:sldMk cId="4056901681" sldId="586"/>
            <ac:picMk id="7" creationId="{E0E5F4E4-F3B8-F84B-6AD2-CA1CDDCC69B6}"/>
          </ac:picMkLst>
        </pc:picChg>
        <pc:picChg chg="add mod">
          <ac:chgData name="KRUTIKA MOHANTY" userId="907c613d3ec7c9e2" providerId="LiveId" clId="{37CAD524-221B-4224-8545-5CAF7DD60009}" dt="2025-07-13T10:58:26.317" v="6847" actId="14100"/>
          <ac:picMkLst>
            <pc:docMk/>
            <pc:sldMk cId="4056901681" sldId="586"/>
            <ac:picMk id="9" creationId="{DE0F6D73-5EA6-4A21-65F4-C7B8655D83E4}"/>
          </ac:picMkLst>
        </pc:picChg>
        <pc:picChg chg="add mod">
          <ac:chgData name="KRUTIKA MOHANTY" userId="907c613d3ec7c9e2" providerId="LiveId" clId="{37CAD524-221B-4224-8545-5CAF7DD60009}" dt="2025-07-13T10:59:58.049" v="6854" actId="14100"/>
          <ac:picMkLst>
            <pc:docMk/>
            <pc:sldMk cId="4056901681" sldId="586"/>
            <ac:picMk id="11" creationId="{3BCF325C-EC01-1C91-58DF-E17187C41824}"/>
          </ac:picMkLst>
        </pc:picChg>
      </pc:sldChg>
      <pc:sldChg chg="addSp modSp new mod">
        <pc:chgData name="KRUTIKA MOHANTY" userId="907c613d3ec7c9e2" providerId="LiveId" clId="{37CAD524-221B-4224-8545-5CAF7DD60009}" dt="2025-07-13T11:08:52.430" v="7514" actId="962"/>
        <pc:sldMkLst>
          <pc:docMk/>
          <pc:sldMk cId="476150943" sldId="587"/>
        </pc:sldMkLst>
        <pc:spChg chg="mod">
          <ac:chgData name="KRUTIKA MOHANTY" userId="907c613d3ec7c9e2" providerId="LiveId" clId="{37CAD524-221B-4224-8545-5CAF7DD60009}" dt="2025-07-13T11:04:04.635" v="7333" actId="14100"/>
          <ac:spMkLst>
            <pc:docMk/>
            <pc:sldMk cId="476150943" sldId="587"/>
            <ac:spMk id="2" creationId="{DCB695D0-839A-C569-7BE6-9C0EF370C643}"/>
          </ac:spMkLst>
        </pc:spChg>
        <pc:spChg chg="mod">
          <ac:chgData name="KRUTIKA MOHANTY" userId="907c613d3ec7c9e2" providerId="LiveId" clId="{37CAD524-221B-4224-8545-5CAF7DD60009}" dt="2025-07-13T11:08:52.430" v="7514" actId="962"/>
          <ac:spMkLst>
            <pc:docMk/>
            <pc:sldMk cId="476150943" sldId="587"/>
            <ac:spMk id="3" creationId="{92698EFA-91A8-5A2A-1E04-F9932A673D86}"/>
          </ac:spMkLst>
        </pc:spChg>
        <pc:picChg chg="add mod">
          <ac:chgData name="KRUTIKA MOHANTY" userId="907c613d3ec7c9e2" providerId="LiveId" clId="{37CAD524-221B-4224-8545-5CAF7DD60009}" dt="2025-07-13T11:08:36.578" v="7490" actId="14100"/>
          <ac:picMkLst>
            <pc:docMk/>
            <pc:sldMk cId="476150943" sldId="587"/>
            <ac:picMk id="5" creationId="{76ACAD56-D40B-66AB-2AAA-DEAEDE04CAF6}"/>
          </ac:picMkLst>
        </pc:picChg>
      </pc:sldChg>
      <pc:sldChg chg="modSp new del mod">
        <pc:chgData name="KRUTIKA MOHANTY" userId="907c613d3ec7c9e2" providerId="LiveId" clId="{37CAD524-221B-4224-8545-5CAF7DD60009}" dt="2025-07-13T11:03:28.512" v="7129" actId="2696"/>
        <pc:sldMkLst>
          <pc:docMk/>
          <pc:sldMk cId="563916507" sldId="587"/>
        </pc:sldMkLst>
        <pc:spChg chg="mod">
          <ac:chgData name="KRUTIKA MOHANTY" userId="907c613d3ec7c9e2" providerId="LiveId" clId="{37CAD524-221B-4224-8545-5CAF7DD60009}" dt="2025-07-13T11:03:24.145" v="7128" actId="20577"/>
          <ac:spMkLst>
            <pc:docMk/>
            <pc:sldMk cId="563916507" sldId="587"/>
            <ac:spMk id="2" creationId="{629BF1EE-46A3-A256-6CCF-27D0E2FF1CDB}"/>
          </ac:spMkLst>
        </pc:spChg>
      </pc:sldChg>
      <pc:sldChg chg="modSp new del mod">
        <pc:chgData name="KRUTIKA MOHANTY" userId="907c613d3ec7c9e2" providerId="LiveId" clId="{37CAD524-221B-4224-8545-5CAF7DD60009}" dt="2025-07-13T11:02:48.052" v="6999" actId="2696"/>
        <pc:sldMkLst>
          <pc:docMk/>
          <pc:sldMk cId="1149737347" sldId="587"/>
        </pc:sldMkLst>
        <pc:spChg chg="mod">
          <ac:chgData name="KRUTIKA MOHANTY" userId="907c613d3ec7c9e2" providerId="LiveId" clId="{37CAD524-221B-4224-8545-5CAF7DD60009}" dt="2025-07-13T11:02:01.322" v="6993" actId="20577"/>
          <ac:spMkLst>
            <pc:docMk/>
            <pc:sldMk cId="1149737347" sldId="587"/>
            <ac:spMk id="2" creationId="{E54F3C35-7A1A-5A2E-C99F-EB3DC83093BF}"/>
          </ac:spMkLst>
        </pc:spChg>
        <pc:spChg chg="mod">
          <ac:chgData name="KRUTIKA MOHANTY" userId="907c613d3ec7c9e2" providerId="LiveId" clId="{37CAD524-221B-4224-8545-5CAF7DD60009}" dt="2025-07-13T11:02:42.599" v="6998" actId="14100"/>
          <ac:spMkLst>
            <pc:docMk/>
            <pc:sldMk cId="1149737347" sldId="587"/>
            <ac:spMk id="3" creationId="{01779052-2897-9810-F651-1009F899DF68}"/>
          </ac:spMkLst>
        </pc:spChg>
      </pc:sldChg>
      <pc:sldChg chg="modSp new del mod">
        <pc:chgData name="KRUTIKA MOHANTY" userId="907c613d3ec7c9e2" providerId="LiveId" clId="{37CAD524-221B-4224-8545-5CAF7DD60009}" dt="2025-07-13T11:01:32.163" v="6863" actId="2696"/>
        <pc:sldMkLst>
          <pc:docMk/>
          <pc:sldMk cId="1530486007" sldId="587"/>
        </pc:sldMkLst>
        <pc:spChg chg="mod">
          <ac:chgData name="KRUTIKA MOHANTY" userId="907c613d3ec7c9e2" providerId="LiveId" clId="{37CAD524-221B-4224-8545-5CAF7DD60009}" dt="2025-07-13T11:00:34.161" v="6862" actId="27636"/>
          <ac:spMkLst>
            <pc:docMk/>
            <pc:sldMk cId="1530486007" sldId="587"/>
            <ac:spMk id="2" creationId="{8F5A0589-F26E-0E99-D25E-594C4E3897E2}"/>
          </ac:spMkLst>
        </pc:spChg>
      </pc:sldChg>
      <pc:sldChg chg="new del">
        <pc:chgData name="KRUTIKA MOHANTY" userId="907c613d3ec7c9e2" providerId="LiveId" clId="{37CAD524-221B-4224-8545-5CAF7DD60009}" dt="2025-07-13T11:03:05.424" v="7001" actId="2696"/>
        <pc:sldMkLst>
          <pc:docMk/>
          <pc:sldMk cId="1944115853" sldId="587"/>
        </pc:sldMkLst>
      </pc:sldChg>
      <pc:sldChg chg="new del">
        <pc:chgData name="KRUTIKA MOHANTY" userId="907c613d3ec7c9e2" providerId="LiveId" clId="{37CAD524-221B-4224-8545-5CAF7DD60009}" dt="2025-07-13T10:55:14.271" v="6822" actId="680"/>
        <pc:sldMkLst>
          <pc:docMk/>
          <pc:sldMk cId="3973479020" sldId="587"/>
        </pc:sldMkLst>
      </pc:sldChg>
    </pc:docChg>
  </pc:docChgLst>
</pc:chgInfo>
</file>

<file path=ppt/comments/modernComment_100_68C49C6.xml><?xml version="1.0" encoding="utf-8"?>
<p188:cmLst xmlns:a="http://schemas.openxmlformats.org/drawingml/2006/main" xmlns:r="http://schemas.openxmlformats.org/officeDocument/2006/relationships" xmlns:p188="http://schemas.microsoft.com/office/powerpoint/2018/8/main">
  <p188:cm id="{7E865148-FB62-4912-A99C-4BE8312AF800}" authorId="{F2EE5040-99CC-1443-0ED3-7CE099E852E5}" created="2025-07-12T15:32:07.585">
    <ac:deMkLst xmlns:ac="http://schemas.microsoft.com/office/drawing/2013/main/command">
      <pc:docMk xmlns:pc="http://schemas.microsoft.com/office/powerpoint/2013/main/command"/>
      <pc:sldMk xmlns:pc="http://schemas.microsoft.com/office/powerpoint/2013/main/command" cId="109857222" sldId="256"/>
      <ac:spMk id="3" creationId="{00000000-0000-0000-0000-000000000000}"/>
    </ac:deMkLst>
    <p188:pos x="990052" y="2150049"/>
    <p188:txBody>
      <a:bodyPr/>
      <a:lstStyle/>
      <a:p>
        <a:r>
          <a:rPr lang="en-IN"/>
          <a:t>Small leter</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13/07/2025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13/07/2025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13/07/2025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13/07/2025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13/07/2025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13/07/2025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0_68C49C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99609" y="679731"/>
            <a:ext cx="4779664" cy="2386161"/>
          </a:xfrm>
        </p:spPr>
        <p:txBody>
          <a:bodyPr vert="horz" lIns="91440" tIns="45720" rIns="91440" bIns="45720" rtlCol="0">
            <a:normAutofit fontScale="90000"/>
          </a:bodyPr>
          <a:lstStyle/>
          <a:p>
            <a:pPr algn="l"/>
            <a:r>
              <a:rPr lang="en-US" sz="2000" b="1" kern="1200" dirty="0">
                <a:latin typeface="+mj-lt"/>
                <a:ea typeface="+mj-ea"/>
                <a:cs typeface="+mj-cs"/>
              </a:rPr>
              <a:t>CAPSTONE PROJECT</a:t>
            </a:r>
            <a:br>
              <a:rPr lang="en-US" sz="2000" b="1" dirty="0"/>
            </a:br>
            <a:endParaRPr lang="en-US" sz="5100" dirty="0">
              <a:latin typeface="Aptos"/>
            </a:endParaRPr>
          </a:p>
          <a:p>
            <a:pPr algn="l"/>
            <a:r>
              <a:rPr lang="en-US" sz="5100" b="1" dirty="0"/>
              <a:t>HOUSE PRICE PREDICATION</a:t>
            </a:r>
            <a:endParaRPr lang="en-US" sz="5100" b="1" kern="1200" dirty="0"/>
          </a:p>
        </p:txBody>
      </p:sp>
      <p:sp>
        <p:nvSpPr>
          <p:cNvPr id="3" name="Subtitle 2"/>
          <p:cNvSpPr>
            <a:spLocks noGrp="1"/>
          </p:cNvSpPr>
          <p:nvPr>
            <p:ph type="subTitle" idx="1"/>
          </p:nvPr>
        </p:nvSpPr>
        <p:spPr>
          <a:xfrm>
            <a:off x="688623" y="3868614"/>
            <a:ext cx="4082980" cy="2609485"/>
          </a:xfrm>
        </p:spPr>
        <p:txBody>
          <a:bodyPr vert="horz" lIns="91440" tIns="45720" rIns="91440" bIns="45720" rtlCol="0" anchor="t">
            <a:normAutofit fontScale="62500" lnSpcReduction="20000"/>
          </a:bodyPr>
          <a:lstStyle/>
          <a:p>
            <a:pPr algn="l">
              <a:spcAft>
                <a:spcPts val="600"/>
              </a:spcAft>
            </a:pPr>
            <a:r>
              <a:rPr lang="en-US" dirty="0"/>
              <a:t>PRESENTED BY</a:t>
            </a:r>
          </a:p>
          <a:p>
            <a:pPr algn="l">
              <a:spcAft>
                <a:spcPts val="600"/>
              </a:spcAft>
            </a:pPr>
            <a:r>
              <a:rPr lang="en-US" dirty="0"/>
              <a:t>STUDENT NAME: KRUTIKA MOHANTY</a:t>
            </a:r>
          </a:p>
          <a:p>
            <a:pPr algn="l">
              <a:spcAft>
                <a:spcPts val="600"/>
              </a:spcAft>
            </a:pPr>
            <a:r>
              <a:rPr lang="en-US" dirty="0"/>
              <a:t>COLLEDE NAME: TRIDENT ACADEMY OF TECHNOLOGY</a:t>
            </a:r>
          </a:p>
          <a:p>
            <a:pPr algn="l">
              <a:spcAft>
                <a:spcPts val="600"/>
              </a:spcAft>
            </a:pPr>
            <a:r>
              <a:rPr lang="en-US" dirty="0"/>
              <a:t>DEPATMENT: COMPUTER SCIENCEAND TECHNOLOGY(CST)</a:t>
            </a:r>
          </a:p>
          <a:p>
            <a:pPr algn="l">
              <a:spcAft>
                <a:spcPts val="600"/>
              </a:spcAft>
            </a:pPr>
            <a:r>
              <a:rPr lang="en-US" dirty="0"/>
              <a:t>Email ID : krutikamohanty2005@gmail.com</a:t>
            </a:r>
          </a:p>
          <a:p>
            <a:pPr algn="l">
              <a:spcAft>
                <a:spcPts val="600"/>
              </a:spcAft>
            </a:pPr>
            <a:r>
              <a:rPr lang="en-US" dirty="0"/>
              <a:t>AICTE STUDENT ID : STU681a20a8818551746542760</a:t>
            </a:r>
          </a:p>
        </p:txBody>
      </p:sp>
      <p:grpSp>
        <p:nvGrpSpPr>
          <p:cNvPr id="45" name="Group 4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46" name="Straight Connector 4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4288F3F-AD4C-81EA-1336-D2C00EFCC479}"/>
              </a:ext>
            </a:extLst>
          </p:cNvPr>
          <p:cNvPicPr>
            <a:picLocks noChangeAspect="1"/>
          </p:cNvPicPr>
          <p:nvPr/>
        </p:nvPicPr>
        <p:blipFill>
          <a:blip r:embed="rId3"/>
          <a:stretch>
            <a:fillRect/>
          </a:stretch>
        </p:blipFill>
        <p:spPr>
          <a:xfrm>
            <a:off x="6196311" y="379797"/>
            <a:ext cx="5210251" cy="5632704"/>
          </a:xfrm>
          <a:prstGeom prst="rect">
            <a:avLst/>
          </a:prstGeom>
        </p:spPr>
      </p:pic>
      <p:pic>
        <p:nvPicPr>
          <p:cNvPr id="6" name="Picture 5" descr="A close-up of a person&#10;&#10;AI-generated content may be incorrect.">
            <a:extLst>
              <a:ext uri="{FF2B5EF4-FFF2-40B4-BE49-F238E27FC236}">
                <a16:creationId xmlns:a16="http://schemas.microsoft.com/office/drawing/2014/main" id="{3C72E7A9-A3A1-701F-BA67-D21995F0CD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7297" y="379797"/>
            <a:ext cx="5507179" cy="5632704"/>
          </a:xfrm>
          <a:prstGeom prst="rect">
            <a:avLst/>
          </a:prstGeom>
        </p:spPr>
      </p:pic>
    </p:spTree>
    <p:extLst>
      <p:ext uri="{BB962C8B-B14F-4D97-AF65-F5344CB8AC3E}">
        <p14:creationId xmlns:p14="http://schemas.microsoft.com/office/powerpoint/2010/main" val="10985722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OUTLINE</a:t>
            </a:r>
            <a:endParaRPr lang="en-US" sz="5400"/>
          </a:p>
        </p:txBody>
      </p:sp>
      <p:sp>
        <p:nvSpPr>
          <p:cNvPr id="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838200" y="1929384"/>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pPr marL="0" indent="0">
              <a:buNone/>
            </a:pPr>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Problem Statement</a:t>
            </a:r>
            <a:endParaRPr lang="en-US" sz="5400"/>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sz="2200" dirty="0"/>
              <a:t>Predicting house prices accurately is challenging due to:</a:t>
            </a:r>
          </a:p>
          <a:p>
            <a:pPr marL="0" indent="0">
              <a:buNone/>
            </a:pPr>
            <a:r>
              <a:rPr lang="en-US" sz="2200" b="1" dirty="0"/>
              <a:t>1. Multiple influencing factors </a:t>
            </a:r>
            <a:r>
              <a:rPr lang="en-US" sz="2200" dirty="0"/>
              <a:t>(e.g., location, square footage, number of </a:t>
            </a:r>
          </a:p>
          <a:p>
            <a:pPr marL="0" indent="0">
              <a:buNone/>
            </a:pPr>
            <a:r>
              <a:rPr lang="en-US" sz="2200" dirty="0"/>
              <a:t>bedrooms, nearby facilities, etc.) </a:t>
            </a:r>
          </a:p>
          <a:p>
            <a:pPr marL="0" indent="0">
              <a:buNone/>
            </a:pPr>
            <a:r>
              <a:rPr lang="en-US" sz="2200" b="1" dirty="0"/>
              <a:t>2.Dynamic market conditions </a:t>
            </a:r>
            <a:r>
              <a:rPr lang="en-US" sz="2200" dirty="0"/>
              <a:t>(e.g., inflation, demand supply fluctuations, </a:t>
            </a:r>
          </a:p>
          <a:p>
            <a:pPr marL="0" indent="0">
              <a:buNone/>
            </a:pPr>
            <a:r>
              <a:rPr lang="en-US" sz="2200" dirty="0"/>
              <a:t>etc.) </a:t>
            </a:r>
          </a:p>
          <a:p>
            <a:pPr marL="0" indent="0">
              <a:buNone/>
            </a:pPr>
            <a:r>
              <a:rPr lang="en-US" sz="2200" b="1" dirty="0"/>
              <a:t>3</a:t>
            </a:r>
            <a:r>
              <a:rPr lang="en-US" sz="2200" dirty="0"/>
              <a:t>.</a:t>
            </a:r>
            <a:r>
              <a:rPr lang="en-US" sz="2200" b="1" dirty="0"/>
              <a:t>Human bias </a:t>
            </a:r>
            <a:r>
              <a:rPr lang="en-US" sz="2200" dirty="0"/>
              <a:t>in manual valuation.</a:t>
            </a:r>
          </a:p>
          <a:p>
            <a:pPr marL="0" indent="0">
              <a:buNone/>
            </a:pPr>
            <a:endParaRPr lang="en-US" sz="2200" dirty="0"/>
          </a:p>
          <a:p>
            <a:pPr marL="0" indent="0">
              <a:buNone/>
            </a:pPr>
            <a:r>
              <a:rPr lang="en-US" sz="2200" dirty="0"/>
              <a:t>This project aims to develop a machine learning-based model that can </a:t>
            </a:r>
            <a:r>
              <a:rPr lang="en-US" sz="2200" dirty="0" err="1"/>
              <a:t>analyse</a:t>
            </a:r>
            <a:r>
              <a:rPr lang="en-US" sz="2200" dirty="0"/>
              <a:t> </a:t>
            </a:r>
          </a:p>
          <a:p>
            <a:pPr marL="0" indent="0">
              <a:buNone/>
            </a:pPr>
            <a:r>
              <a:rPr lang="en-US" sz="2200" dirty="0"/>
              <a:t>real estate data and predict house prices with high accuracy, reducing human </a:t>
            </a:r>
          </a:p>
          <a:p>
            <a:pPr marL="0" indent="0">
              <a:buNone/>
            </a:pPr>
            <a:r>
              <a:rPr lang="en-US" sz="2200" dirty="0"/>
              <a:t>error and providing reliable estimates.</a:t>
            </a:r>
          </a:p>
          <a:p>
            <a:pPr marL="0" indent="0">
              <a:buNone/>
            </a:pP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838200" y="115983"/>
            <a:ext cx="10515600" cy="1325563"/>
          </a:xfrm>
        </p:spPr>
        <p:txBody>
          <a:bodyPr>
            <a:normAutofit/>
          </a:bodyPr>
          <a:lstStyle/>
          <a:p>
            <a:r>
              <a:rPr lang="en-US" sz="5400" b="1" cap="all" dirty="0">
                <a:latin typeface="Arial"/>
                <a:cs typeface="Arial"/>
              </a:rPr>
              <a:t>Proposed Solution</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838200" y="1788706"/>
            <a:ext cx="10515600" cy="4792963"/>
          </a:xfrm>
        </p:spPr>
        <p:txBody>
          <a:bodyPr vert="horz" lIns="91440" tIns="45720" rIns="91440" bIns="45720" rtlCol="0">
            <a:noAutofit/>
          </a:bodyPr>
          <a:lstStyle/>
          <a:p>
            <a:pPr marL="0" indent="0">
              <a:spcBef>
                <a:spcPct val="20000"/>
              </a:spcBef>
              <a:spcAft>
                <a:spcPts val="600"/>
              </a:spcAft>
              <a:buNone/>
            </a:pPr>
            <a:r>
              <a:rPr lang="en-US" sz="1400" dirty="0"/>
              <a:t>The proposed system aims to address the challenges of </a:t>
            </a:r>
            <a:r>
              <a:rPr lang="en-US" sz="1400" b="1" dirty="0"/>
              <a:t>accurate house price prediction </a:t>
            </a:r>
            <a:r>
              <a:rPr lang="en-US" sz="1400" dirty="0"/>
              <a:t>by leveraging </a:t>
            </a:r>
            <a:r>
              <a:rPr lang="en-US" sz="1400" b="1" dirty="0"/>
              <a:t>data analytics and machine learning techniques</a:t>
            </a:r>
            <a:r>
              <a:rPr lang="en-US" sz="1400" dirty="0"/>
              <a:t>. The solution will analytics historical property data, identify key pricing factors, and provide reliable estimates to buyers, sellers, and real estate professionals. The framework consists of the following components</a:t>
            </a:r>
            <a:r>
              <a:rPr lang="en-US" sz="1100" dirty="0"/>
              <a:t>:</a:t>
            </a:r>
          </a:p>
          <a:p>
            <a:pPr marL="0" indent="0">
              <a:spcBef>
                <a:spcPct val="20000"/>
              </a:spcBef>
              <a:spcAft>
                <a:spcPts val="600"/>
              </a:spcAft>
              <a:buNone/>
            </a:pPr>
            <a:r>
              <a:rPr lang="en-US" sz="1100" dirty="0"/>
              <a:t>1. </a:t>
            </a:r>
            <a:r>
              <a:rPr lang="en-US" sz="1100" b="1" dirty="0"/>
              <a:t>Data collection</a:t>
            </a:r>
          </a:p>
          <a:p>
            <a:pPr marL="0" indent="0">
              <a:spcBef>
                <a:spcPct val="20000"/>
              </a:spcBef>
              <a:spcAft>
                <a:spcPts val="600"/>
              </a:spcAft>
              <a:buNone/>
            </a:pPr>
            <a:r>
              <a:rPr lang="en-US" sz="1100" b="1" dirty="0"/>
              <a:t>. Historical Property Data:</a:t>
            </a:r>
          </a:p>
          <a:p>
            <a:pPr marL="0" indent="0">
              <a:spcBef>
                <a:spcPct val="20000"/>
              </a:spcBef>
              <a:spcAft>
                <a:spcPts val="600"/>
              </a:spcAft>
              <a:buNone/>
            </a:pPr>
            <a:r>
              <a:rPr lang="en-US" sz="1100" b="1" dirty="0"/>
              <a:t>       . </a:t>
            </a:r>
            <a:r>
              <a:rPr lang="en-US" sz="1100" dirty="0"/>
              <a:t>Collect datasets with features like areas, bedrooms, bathrooms, </a:t>
            </a:r>
            <a:r>
              <a:rPr lang="en-US" sz="1100" dirty="0" err="1"/>
              <a:t>etc</a:t>
            </a:r>
            <a:r>
              <a:rPr lang="en-US" sz="1100" dirty="0"/>
              <a:t> .</a:t>
            </a:r>
          </a:p>
          <a:p>
            <a:pPr marL="0" indent="0">
              <a:spcBef>
                <a:spcPct val="20000"/>
              </a:spcBef>
              <a:spcAft>
                <a:spcPts val="600"/>
              </a:spcAft>
              <a:buNone/>
            </a:pPr>
            <a:r>
              <a:rPr lang="en-US" sz="1100" dirty="0"/>
              <a:t>       </a:t>
            </a:r>
            <a:r>
              <a:rPr lang="en-US" sz="1100" b="1" dirty="0"/>
              <a:t>. </a:t>
            </a:r>
            <a:r>
              <a:rPr lang="en-US" sz="1100" dirty="0"/>
              <a:t>Source data can be used from real estate platform</a:t>
            </a:r>
            <a:r>
              <a:rPr lang="en-GB" sz="1100" b="1" dirty="0"/>
              <a:t> (e.g.,</a:t>
            </a:r>
            <a:r>
              <a:rPr lang="en-GB" sz="1100" dirty="0"/>
              <a:t> Kaggle , Zillow</a:t>
            </a:r>
            <a:r>
              <a:rPr lang="en-GB" sz="1100" b="1" dirty="0"/>
              <a:t>) or APIs</a:t>
            </a:r>
            <a:r>
              <a:rPr lang="en-GB" sz="1100" dirty="0"/>
              <a:t> for better testing and training of</a:t>
            </a:r>
          </a:p>
          <a:p>
            <a:pPr marL="0" indent="0">
              <a:spcBef>
                <a:spcPct val="20000"/>
              </a:spcBef>
              <a:spcAft>
                <a:spcPts val="600"/>
              </a:spcAft>
              <a:buNone/>
            </a:pPr>
            <a:r>
              <a:rPr lang="en-GB" sz="1100" dirty="0"/>
              <a:t>           the code.</a:t>
            </a:r>
          </a:p>
          <a:p>
            <a:pPr marL="0" indent="0">
              <a:spcBef>
                <a:spcPct val="20000"/>
              </a:spcBef>
              <a:spcAft>
                <a:spcPts val="600"/>
              </a:spcAft>
              <a:buNone/>
            </a:pPr>
            <a:r>
              <a:rPr lang="en-GB" sz="1100" b="1" dirty="0"/>
              <a:t>. External Factors :</a:t>
            </a:r>
          </a:p>
          <a:p>
            <a:pPr marL="0" indent="0">
              <a:spcBef>
                <a:spcPct val="20000"/>
              </a:spcBef>
              <a:spcAft>
                <a:spcPts val="600"/>
              </a:spcAft>
              <a:buNone/>
            </a:pPr>
            <a:r>
              <a:rPr lang="en-GB" sz="1100" b="1" dirty="0"/>
              <a:t>        . </a:t>
            </a:r>
            <a:r>
              <a:rPr lang="en-US" sz="1100" b="1" dirty="0"/>
              <a:t> </a:t>
            </a:r>
            <a:r>
              <a:rPr lang="en-US" sz="1100" dirty="0"/>
              <a:t>Integrate supplementary data like </a:t>
            </a:r>
            <a:r>
              <a:rPr lang="en-US" sz="1100" b="1" dirty="0" err="1"/>
              <a:t>Neighbourhood</a:t>
            </a:r>
            <a:r>
              <a:rPr lang="en-US" sz="1100" b="1" dirty="0"/>
              <a:t> crime rates, school ratings, </a:t>
            </a:r>
            <a:r>
              <a:rPr lang="en-US" sz="1100" dirty="0"/>
              <a:t>and </a:t>
            </a:r>
            <a:r>
              <a:rPr lang="en-US" sz="1100" b="1" dirty="0"/>
              <a:t>proximity to public transport </a:t>
            </a:r>
            <a:r>
              <a:rPr lang="en-US" sz="1100" dirty="0"/>
              <a:t>to</a:t>
            </a:r>
            <a:endParaRPr lang="en-US" sz="1100" b="1" dirty="0"/>
          </a:p>
          <a:p>
            <a:pPr marL="0" indent="0">
              <a:spcBef>
                <a:spcPct val="20000"/>
              </a:spcBef>
              <a:spcAft>
                <a:spcPts val="600"/>
              </a:spcAft>
              <a:buNone/>
            </a:pPr>
            <a:r>
              <a:rPr lang="en-US" sz="1100" b="1" dirty="0"/>
              <a:t>            enhance accuracy.</a:t>
            </a:r>
            <a:r>
              <a:rPr lang="en-GB" sz="1100" dirty="0"/>
              <a:t>    </a:t>
            </a:r>
          </a:p>
          <a:p>
            <a:pPr marL="0" indent="0">
              <a:spcBef>
                <a:spcPct val="20000"/>
              </a:spcBef>
              <a:spcAft>
                <a:spcPts val="600"/>
              </a:spcAft>
              <a:buNone/>
            </a:pPr>
            <a:r>
              <a:rPr lang="en-GB" sz="1100" dirty="0"/>
              <a:t>2.</a:t>
            </a:r>
            <a:r>
              <a:rPr lang="en-GB" sz="1100" b="1" dirty="0"/>
              <a:t> Data Collection :</a:t>
            </a:r>
          </a:p>
          <a:p>
            <a:pPr marL="0" indent="0">
              <a:spcBef>
                <a:spcPct val="20000"/>
              </a:spcBef>
              <a:spcAft>
                <a:spcPts val="600"/>
              </a:spcAft>
              <a:buNone/>
            </a:pPr>
            <a:r>
              <a:rPr lang="en-GB" sz="1100" b="1" dirty="0"/>
              <a:t>. Data Cleaning:</a:t>
            </a:r>
          </a:p>
          <a:p>
            <a:pPr marL="0" indent="0">
              <a:spcBef>
                <a:spcPct val="20000"/>
              </a:spcBef>
              <a:spcAft>
                <a:spcPts val="600"/>
              </a:spcAft>
              <a:buNone/>
            </a:pPr>
            <a:r>
              <a:rPr lang="en-US" sz="1100" dirty="0"/>
              <a:t>      . Handle missing values using imputation (e.g., median for numerical features) or removal. </a:t>
            </a:r>
          </a:p>
          <a:p>
            <a:pPr marL="0" indent="0">
              <a:spcBef>
                <a:spcPct val="20000"/>
              </a:spcBef>
              <a:spcAft>
                <a:spcPts val="600"/>
              </a:spcAft>
              <a:buNone/>
            </a:pPr>
            <a:r>
              <a:rPr lang="en-US" sz="1100" dirty="0"/>
              <a:t>         . Detect and mitigate outliers (e.g., mansions priced anomalously low). </a:t>
            </a:r>
          </a:p>
          <a:p>
            <a:pPr marL="0" indent="0">
              <a:spcBef>
                <a:spcPct val="20000"/>
              </a:spcBef>
              <a:spcAft>
                <a:spcPts val="600"/>
              </a:spcAft>
              <a:buNone/>
            </a:pPr>
            <a:r>
              <a:rPr lang="en-US" sz="1100" dirty="0"/>
              <a:t>3. </a:t>
            </a:r>
            <a:r>
              <a:rPr lang="en-US" sz="1100" b="1" dirty="0"/>
              <a:t>Machine Learning Model</a:t>
            </a:r>
          </a:p>
          <a:p>
            <a:pPr marL="0" indent="0">
              <a:spcBef>
                <a:spcPct val="20000"/>
              </a:spcBef>
              <a:spcAft>
                <a:spcPts val="600"/>
              </a:spcAft>
              <a:buNone/>
            </a:pPr>
            <a:r>
              <a:rPr lang="en-US" sz="1100" b="1" dirty="0"/>
              <a:t>. Algorithm Selection:</a:t>
            </a:r>
          </a:p>
          <a:p>
            <a:pPr marL="0" indent="0">
              <a:spcBef>
                <a:spcPct val="20000"/>
              </a:spcBef>
              <a:spcAft>
                <a:spcPts val="600"/>
              </a:spcAft>
              <a:buNone/>
            </a:pPr>
            <a:r>
              <a:rPr lang="en-US" sz="1100" b="1" dirty="0"/>
              <a:t>      . Baseline Model: </a:t>
            </a:r>
            <a:r>
              <a:rPr lang="en-US" sz="1100" dirty="0"/>
              <a:t>Linear Regression (for interpretability and benchmarking). </a:t>
            </a:r>
          </a:p>
          <a:p>
            <a:pPr marL="0" indent="0">
              <a:spcBef>
                <a:spcPct val="20000"/>
              </a:spcBef>
              <a:spcAft>
                <a:spcPts val="600"/>
              </a:spcAft>
              <a:buNone/>
            </a:pPr>
            <a:r>
              <a:rPr lang="en-US" sz="1100" b="1" dirty="0"/>
              <a:t>o Advanced Model</a:t>
            </a:r>
            <a:r>
              <a:rPr lang="en-US" sz="1100" dirty="0"/>
              <a:t>: Random Forest/</a:t>
            </a:r>
            <a:r>
              <a:rPr lang="en-US" sz="1100" dirty="0" err="1"/>
              <a:t>XGBoost</a:t>
            </a:r>
            <a:r>
              <a:rPr lang="en-US" sz="1100" dirty="0"/>
              <a:t>  (to capture non-linear relationships</a:t>
            </a:r>
          </a:p>
          <a:p>
            <a:pPr marL="0" indent="0">
              <a:spcBef>
                <a:spcPct val="20000"/>
              </a:spcBef>
              <a:spcAft>
                <a:spcPts val="600"/>
              </a:spcAft>
              <a:buNone/>
            </a:pPr>
            <a:r>
              <a:rPr lang="en-US" sz="1100" b="1" dirty="0"/>
              <a:t>    </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E95BA0-FBCD-983F-7F6D-D1BBB239E7C9}"/>
              </a:ext>
            </a:extLst>
          </p:cNvPr>
          <p:cNvSpPr txBox="1"/>
          <p:nvPr/>
        </p:nvSpPr>
        <p:spPr>
          <a:xfrm>
            <a:off x="170822" y="120580"/>
            <a:ext cx="8367765" cy="6106287"/>
          </a:xfrm>
          <a:prstGeom prst="rect">
            <a:avLst/>
          </a:prstGeom>
          <a:noFill/>
        </p:spPr>
        <p:txBody>
          <a:bodyPr wrap="square">
            <a:spAutoFit/>
          </a:bodyPr>
          <a:lstStyle/>
          <a:p>
            <a:pPr marL="0" indent="0">
              <a:spcBef>
                <a:spcPct val="20000"/>
              </a:spcBef>
              <a:spcAft>
                <a:spcPts val="600"/>
              </a:spcAft>
              <a:buNone/>
            </a:pPr>
            <a:r>
              <a:rPr lang="en-US" sz="1400" b="1" dirty="0"/>
              <a:t>. Key Features for Prediction: </a:t>
            </a:r>
          </a:p>
          <a:p>
            <a:pPr marL="0" indent="0">
              <a:spcBef>
                <a:spcPct val="20000"/>
              </a:spcBef>
              <a:spcAft>
                <a:spcPts val="600"/>
              </a:spcAft>
              <a:buNone/>
            </a:pPr>
            <a:r>
              <a:rPr lang="en-US" sz="1400" dirty="0"/>
              <a:t>     . Primary: Area, Location, Bedrooms. </a:t>
            </a:r>
          </a:p>
          <a:p>
            <a:pPr marL="0" indent="0">
              <a:spcBef>
                <a:spcPct val="20000"/>
              </a:spcBef>
              <a:spcAft>
                <a:spcPts val="600"/>
              </a:spcAft>
              <a:buNone/>
            </a:pPr>
            <a:r>
              <a:rPr lang="en-US" sz="1400" dirty="0"/>
              <a:t>       . Secondary: Market Trends, Seasonality (e.g., prices dip in winter).</a:t>
            </a:r>
          </a:p>
          <a:p>
            <a:pPr marL="0" indent="0">
              <a:spcBef>
                <a:spcPct val="20000"/>
              </a:spcBef>
              <a:spcAft>
                <a:spcPts val="600"/>
              </a:spcAft>
              <a:buNone/>
            </a:pPr>
            <a:r>
              <a:rPr lang="en-US" sz="1400" b="1" dirty="0"/>
              <a:t>4.Deployment</a:t>
            </a:r>
          </a:p>
          <a:p>
            <a:pPr>
              <a:spcBef>
                <a:spcPct val="20000"/>
              </a:spcBef>
              <a:spcAft>
                <a:spcPts val="600"/>
              </a:spcAft>
            </a:pPr>
            <a:r>
              <a:rPr lang="en-US" sz="1400" b="1" dirty="0"/>
              <a:t>  User Interface: </a:t>
            </a:r>
          </a:p>
          <a:p>
            <a:pPr>
              <a:spcBef>
                <a:spcPct val="20000"/>
              </a:spcBef>
              <a:spcAft>
                <a:spcPts val="600"/>
              </a:spcAft>
            </a:pPr>
            <a:r>
              <a:rPr lang="en-US" sz="1400" dirty="0"/>
              <a:t>           . Develop a web app (Flask/</a:t>
            </a:r>
            <a:r>
              <a:rPr lang="en-US" sz="1400" dirty="0" err="1"/>
              <a:t>Streamlit</a:t>
            </a:r>
            <a:r>
              <a:rPr lang="en-US" sz="1400" dirty="0"/>
              <a:t>) where users input property  details to get instant price estimates.</a:t>
            </a:r>
          </a:p>
          <a:p>
            <a:pPr>
              <a:spcBef>
                <a:spcPct val="20000"/>
              </a:spcBef>
              <a:spcAft>
                <a:spcPts val="600"/>
              </a:spcAft>
            </a:pPr>
            <a:r>
              <a:rPr lang="en-US" sz="1400" dirty="0"/>
              <a:t>            . Example input: [Area=1500 </a:t>
            </a:r>
            <a:r>
              <a:rPr lang="en-US" sz="1400" dirty="0" err="1"/>
              <a:t>sqft</a:t>
            </a:r>
            <a:r>
              <a:rPr lang="en-US" sz="1400" dirty="0"/>
              <a:t>, Location=Suburban, Bedrooms=3] → Output: Predicted Price: $450,000. </a:t>
            </a:r>
          </a:p>
          <a:p>
            <a:pPr>
              <a:spcBef>
                <a:spcPct val="20000"/>
              </a:spcBef>
              <a:spcAft>
                <a:spcPts val="600"/>
              </a:spcAft>
            </a:pPr>
            <a:r>
              <a:rPr lang="en-US" sz="1400" b="1" dirty="0"/>
              <a:t>. Scalability</a:t>
            </a:r>
            <a:r>
              <a:rPr lang="en-US" sz="1400" dirty="0"/>
              <a:t>: </a:t>
            </a:r>
          </a:p>
          <a:p>
            <a:pPr>
              <a:spcBef>
                <a:spcPct val="20000"/>
              </a:spcBef>
              <a:spcAft>
                <a:spcPts val="600"/>
              </a:spcAft>
            </a:pPr>
            <a:r>
              <a:rPr lang="en-US" sz="1400" dirty="0"/>
              <a:t>         . Deploy on cloud platforms (AWS/Heroku) for real-time predictions.</a:t>
            </a:r>
          </a:p>
          <a:p>
            <a:pPr>
              <a:spcBef>
                <a:spcPct val="20000"/>
              </a:spcBef>
              <a:spcAft>
                <a:spcPts val="600"/>
              </a:spcAft>
            </a:pPr>
            <a:r>
              <a:rPr lang="en-US" sz="1400" b="1" dirty="0"/>
              <a:t>5. Evaluation &amp; Improvement</a:t>
            </a:r>
          </a:p>
          <a:p>
            <a:pPr>
              <a:spcBef>
                <a:spcPct val="20000"/>
              </a:spcBef>
              <a:spcAft>
                <a:spcPts val="600"/>
              </a:spcAft>
            </a:pPr>
            <a:r>
              <a:rPr lang="en-US" sz="1400" b="1" dirty="0"/>
              <a:t>. Performance Metrics: </a:t>
            </a:r>
          </a:p>
          <a:p>
            <a:pPr>
              <a:spcBef>
                <a:spcPct val="20000"/>
              </a:spcBef>
              <a:spcAft>
                <a:spcPts val="600"/>
              </a:spcAft>
            </a:pPr>
            <a:r>
              <a:rPr lang="en-US" sz="1400" b="1" dirty="0"/>
              <a:t>       </a:t>
            </a:r>
            <a:r>
              <a:rPr lang="en-US" sz="1400" dirty="0"/>
              <a:t>. R² Score: Measure variance explained (target: &gt;0.85). </a:t>
            </a:r>
          </a:p>
          <a:p>
            <a:pPr>
              <a:spcBef>
                <a:spcPct val="20000"/>
              </a:spcBef>
              <a:spcAft>
                <a:spcPts val="600"/>
              </a:spcAft>
            </a:pPr>
            <a:r>
              <a:rPr lang="en-US" sz="1400" dirty="0"/>
              <a:t>        . MAE/RMSE: Quantify average prediction errors (e.g., MAE &lt; $10,000). </a:t>
            </a:r>
          </a:p>
          <a:p>
            <a:pPr>
              <a:spcBef>
                <a:spcPct val="20000"/>
              </a:spcBef>
              <a:spcAft>
                <a:spcPts val="600"/>
              </a:spcAft>
            </a:pPr>
            <a:r>
              <a:rPr lang="en-US" sz="1400" b="1" dirty="0"/>
              <a:t>.Continuous Learning:</a:t>
            </a:r>
          </a:p>
          <a:p>
            <a:pPr>
              <a:spcBef>
                <a:spcPct val="20000"/>
              </a:spcBef>
              <a:spcAft>
                <a:spcPts val="600"/>
              </a:spcAft>
            </a:pPr>
            <a:r>
              <a:rPr lang="en-US" sz="1400" dirty="0"/>
              <a:t>      . Retrain the model quarterly with fresh transaction data.</a:t>
            </a:r>
          </a:p>
          <a:p>
            <a:pPr>
              <a:spcBef>
                <a:spcPct val="20000"/>
              </a:spcBef>
              <a:spcAft>
                <a:spcPts val="600"/>
              </a:spcAft>
            </a:pPr>
            <a:r>
              <a:rPr lang="en-US" sz="1400" dirty="0"/>
              <a:t>       .Incorporate user feedback to refine features (e.g., add "Home Condition" as a new variable).</a:t>
            </a:r>
            <a:endParaRPr lang="en-US" sz="1400" b="1" dirty="0"/>
          </a:p>
          <a:p>
            <a:pPr marL="0" indent="0">
              <a:spcBef>
                <a:spcPct val="20000"/>
              </a:spcBef>
              <a:spcAft>
                <a:spcPts val="600"/>
              </a:spcAft>
              <a:buNone/>
            </a:pPr>
            <a:r>
              <a:rPr lang="en-US" sz="1400" dirty="0"/>
              <a:t>         </a:t>
            </a:r>
          </a:p>
        </p:txBody>
      </p:sp>
    </p:spTree>
    <p:extLst>
      <p:ext uri="{BB962C8B-B14F-4D97-AF65-F5344CB8AC3E}">
        <p14:creationId xmlns:p14="http://schemas.microsoft.com/office/powerpoint/2010/main" val="2239342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838200" y="365125"/>
            <a:ext cx="10515600" cy="1325563"/>
          </a:xfrm>
        </p:spPr>
        <p:txBody>
          <a:bodyPr>
            <a:normAutofit/>
          </a:bodyPr>
          <a:lstStyle/>
          <a:p>
            <a:r>
              <a:rPr lang="en-US" sz="5400" b="1" cap="all" dirty="0">
                <a:latin typeface="Arial"/>
                <a:cs typeface="Arial"/>
              </a:rPr>
              <a:t>System  Approach</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1" y="1949481"/>
            <a:ext cx="12269037" cy="4712576"/>
          </a:xfrm>
        </p:spPr>
        <p:txBody>
          <a:bodyPr vert="horz" lIns="91440" tIns="45720" rIns="91440" bIns="45720" rtlCol="0">
            <a:noAutofit/>
          </a:bodyPr>
          <a:lstStyle/>
          <a:p>
            <a:pPr marL="0" indent="0">
              <a:spcBef>
                <a:spcPct val="20000"/>
              </a:spcBef>
              <a:spcAft>
                <a:spcPts val="600"/>
              </a:spcAft>
              <a:buNone/>
            </a:pPr>
            <a:r>
              <a:rPr lang="en-US" sz="1400" b="1" dirty="0"/>
              <a:t>.Data Collection:</a:t>
            </a:r>
          </a:p>
          <a:p>
            <a:pPr marL="0" indent="0">
              <a:spcBef>
                <a:spcPct val="20000"/>
              </a:spcBef>
              <a:spcAft>
                <a:spcPts val="600"/>
              </a:spcAft>
              <a:buNone/>
            </a:pPr>
            <a:r>
              <a:rPr lang="en-US" sz="1400" dirty="0"/>
              <a:t>The first step involves gathering the dataset required for the project. For house price prediction, this data may include features like area, number of bedrooms, bathrooms, location, etc.</a:t>
            </a:r>
          </a:p>
          <a:p>
            <a:pPr marL="0" indent="0">
              <a:spcBef>
                <a:spcPct val="20000"/>
              </a:spcBef>
              <a:spcAft>
                <a:spcPts val="600"/>
              </a:spcAft>
              <a:buNone/>
            </a:pPr>
            <a:r>
              <a:rPr lang="en-US" sz="1400" b="1" dirty="0"/>
              <a:t>.Data Preprocessing</a:t>
            </a:r>
            <a:r>
              <a:rPr lang="en-US" sz="1400" dirty="0"/>
              <a:t>:</a:t>
            </a:r>
          </a:p>
          <a:p>
            <a:pPr marL="0" indent="0">
              <a:spcBef>
                <a:spcPct val="20000"/>
              </a:spcBef>
              <a:spcAft>
                <a:spcPts val="600"/>
              </a:spcAft>
              <a:buNone/>
            </a:pPr>
            <a:r>
              <a:rPr lang="en-US" sz="1400" dirty="0"/>
              <a:t>Raw data often contains missing values, inconsistent formats, or irrelevant information. In this step, missing values are handled (either filled or removed), data types are corrected (e.g., converting area to numeric), irrelevant or duplicate data is removed, categorical variables (like location) may be encoded numerically for model compatibility.</a:t>
            </a:r>
          </a:p>
          <a:p>
            <a:pPr marL="0" indent="0">
              <a:spcBef>
                <a:spcPct val="20000"/>
              </a:spcBef>
              <a:spcAft>
                <a:spcPts val="600"/>
              </a:spcAft>
              <a:buNone/>
            </a:pPr>
            <a:r>
              <a:rPr lang="en-US" sz="1400" b="1" dirty="0"/>
              <a:t>. Exploratory Data Analysis (EDA):</a:t>
            </a:r>
          </a:p>
          <a:p>
            <a:pPr marL="0" indent="0">
              <a:spcBef>
                <a:spcPct val="20000"/>
              </a:spcBef>
              <a:spcAft>
                <a:spcPts val="600"/>
              </a:spcAft>
              <a:buNone/>
            </a:pPr>
            <a:r>
              <a:rPr lang="en-US" sz="1400" dirty="0"/>
              <a:t>EDA helps understand the patterns and relationships in the dataset. This step includes visualizing data distributions (using histograms, graphs, etc.), checking for correlations between variables, identifying outliers or unusual trends. </a:t>
            </a:r>
          </a:p>
          <a:p>
            <a:pPr marL="0" indent="0">
              <a:spcBef>
                <a:spcPct val="20000"/>
              </a:spcBef>
              <a:spcAft>
                <a:spcPts val="600"/>
              </a:spcAft>
              <a:buNone/>
            </a:pPr>
            <a:r>
              <a:rPr lang="en-US" sz="1400" b="1" dirty="0"/>
              <a:t>.Feature Selection</a:t>
            </a:r>
            <a:r>
              <a:rPr lang="en-US" sz="1400" dirty="0"/>
              <a:t>: </a:t>
            </a:r>
          </a:p>
          <a:p>
            <a:pPr marL="0" indent="0">
              <a:spcBef>
                <a:spcPct val="20000"/>
              </a:spcBef>
              <a:spcAft>
                <a:spcPts val="600"/>
              </a:spcAft>
              <a:buNone/>
            </a:pPr>
            <a:r>
              <a:rPr lang="en-US" sz="1400" dirty="0"/>
              <a:t>Not all collected data may be useful for prediction. In this step, the most relevant features (independent variables) that significantly affect the target variable (house price) are selected, and irrelevant or weakly correlated features are dropped to improve model performance.</a:t>
            </a:r>
          </a:p>
          <a:p>
            <a:pPr marL="0" indent="0">
              <a:spcBef>
                <a:spcPct val="20000"/>
              </a:spcBef>
              <a:spcAft>
                <a:spcPts val="600"/>
              </a:spcAft>
              <a:buNone/>
            </a:pPr>
            <a:r>
              <a:rPr lang="en-US" sz="1400" b="1" dirty="0"/>
              <a:t>. Model Selection (Linear Regression): </a:t>
            </a:r>
          </a:p>
          <a:p>
            <a:pPr marL="0" indent="0">
              <a:spcBef>
                <a:spcPct val="20000"/>
              </a:spcBef>
              <a:spcAft>
                <a:spcPts val="600"/>
              </a:spcAft>
              <a:buNone/>
            </a:pPr>
            <a:r>
              <a:rPr lang="en-US" sz="1400" dirty="0"/>
              <a:t>Based on the problem type (predicting a continuous value), an appropriate machine learning model is chosen i.e., Linear Regression. It is a simple yet effective model for predicting numerical outcomes like house prices.</a:t>
            </a:r>
            <a:endParaRPr lang="en-GB" sz="1400" dirty="0"/>
          </a:p>
        </p:txBody>
      </p:sp>
    </p:spTree>
    <p:extLst>
      <p:ext uri="{BB962C8B-B14F-4D97-AF65-F5344CB8AC3E}">
        <p14:creationId xmlns:p14="http://schemas.microsoft.com/office/powerpoint/2010/main" val="350112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D58672-F1CC-AC69-3407-3E952E06D2FC}"/>
              </a:ext>
            </a:extLst>
          </p:cNvPr>
          <p:cNvSpPr txBox="1"/>
          <p:nvPr/>
        </p:nvSpPr>
        <p:spPr>
          <a:xfrm>
            <a:off x="-1" y="80386"/>
            <a:ext cx="7084089" cy="3693319"/>
          </a:xfrm>
          <a:prstGeom prst="rect">
            <a:avLst/>
          </a:prstGeom>
          <a:noFill/>
        </p:spPr>
        <p:txBody>
          <a:bodyPr wrap="square">
            <a:spAutoFit/>
          </a:bodyPr>
          <a:lstStyle/>
          <a:p>
            <a:r>
              <a:rPr lang="en-IN" b="1" dirty="0"/>
              <a:t>.Model Training and Testing: </a:t>
            </a:r>
          </a:p>
          <a:p>
            <a:r>
              <a:rPr lang="en-IN" dirty="0"/>
              <a:t>The dataset is split into ‘Training Set’ which is used to train the model and learn patterns and ‘Testing Set’ which is used to evaluate the model's performance on unseen data. The model learns the relationship between features and target price during training. </a:t>
            </a:r>
          </a:p>
          <a:p>
            <a:r>
              <a:rPr lang="en-IN" b="1" dirty="0"/>
              <a:t>.Performance Evaluation: </a:t>
            </a:r>
          </a:p>
          <a:p>
            <a:r>
              <a:rPr lang="en-IN" dirty="0"/>
              <a:t>After training, the model's predictions are compared with actual values using evaluation metrics like </a:t>
            </a:r>
            <a:r>
              <a:rPr lang="en-IN" b="1" dirty="0"/>
              <a:t>‘R² Score</a:t>
            </a:r>
            <a:r>
              <a:rPr lang="en-IN" dirty="0"/>
              <a:t>’ which indicates how well the model explains the variability in house prices, </a:t>
            </a:r>
            <a:r>
              <a:rPr lang="en-IN" b="1" dirty="0"/>
              <a:t>‘Mean Absolute Error (MAE)’ </a:t>
            </a:r>
            <a:r>
              <a:rPr lang="en-IN" dirty="0"/>
              <a:t>which</a:t>
            </a:r>
            <a:r>
              <a:rPr lang="en-IN" b="1" dirty="0"/>
              <a:t> </a:t>
            </a:r>
            <a:r>
              <a:rPr lang="en-IN" dirty="0"/>
              <a:t>helps to get the average difference between predicted and actual prices, and ‘Mean Squared Error (MSE)’ which measures the squared difference for error sensitivity. These metrics help assess if the model is reliable and accurate.</a:t>
            </a:r>
          </a:p>
        </p:txBody>
      </p:sp>
      <p:pic>
        <p:nvPicPr>
          <p:cNvPr id="7" name="Picture 6" descr="A diagram of a model training&#10;&#10;AI-generated content may be incorrect.">
            <a:extLst>
              <a:ext uri="{FF2B5EF4-FFF2-40B4-BE49-F238E27FC236}">
                <a16:creationId xmlns:a16="http://schemas.microsoft.com/office/drawing/2014/main" id="{00C0CEB3-BA86-2FF7-052A-933F2EBA9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1313" y="0"/>
            <a:ext cx="3267378" cy="6858000"/>
          </a:xfrm>
          <a:prstGeom prst="rect">
            <a:avLst/>
          </a:prstGeom>
        </p:spPr>
      </p:pic>
    </p:spTree>
    <p:extLst>
      <p:ext uri="{BB962C8B-B14F-4D97-AF65-F5344CB8AC3E}">
        <p14:creationId xmlns:p14="http://schemas.microsoft.com/office/powerpoint/2010/main" val="184699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Algorithm &amp; Deployment</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724916" y="1787144"/>
            <a:ext cx="10515600" cy="4251960"/>
          </a:xfrm>
        </p:spPr>
        <p:txBody>
          <a:bodyPr vert="horz" lIns="91440" tIns="45720" rIns="91440" bIns="45720" rtlCol="0">
            <a:noAutofit/>
          </a:bodyPr>
          <a:lstStyle/>
          <a:p>
            <a:pPr marL="0" indent="0">
              <a:spcBef>
                <a:spcPct val="20000"/>
              </a:spcBef>
              <a:spcAft>
                <a:spcPts val="600"/>
              </a:spcAft>
              <a:buNone/>
            </a:pPr>
            <a:r>
              <a:rPr lang="en-US" sz="1500" dirty="0"/>
              <a:t>The dataset contains information such as:</a:t>
            </a:r>
          </a:p>
          <a:p>
            <a:pPr marL="0" indent="0">
              <a:spcBef>
                <a:spcPct val="20000"/>
              </a:spcBef>
              <a:spcAft>
                <a:spcPts val="600"/>
              </a:spcAft>
              <a:buNone/>
            </a:pPr>
            <a:r>
              <a:rPr lang="en-US" sz="1500" dirty="0"/>
              <a:t>1. Area (sq. ft.)</a:t>
            </a:r>
          </a:p>
          <a:p>
            <a:pPr marL="0" indent="0">
              <a:spcBef>
                <a:spcPct val="20000"/>
              </a:spcBef>
              <a:spcAft>
                <a:spcPts val="600"/>
              </a:spcAft>
              <a:buNone/>
            </a:pPr>
            <a:r>
              <a:rPr lang="en-US" sz="1500" dirty="0"/>
              <a:t>2. Number of Bedrooms </a:t>
            </a:r>
          </a:p>
          <a:p>
            <a:pPr marL="0" indent="0">
              <a:spcBef>
                <a:spcPct val="20000"/>
              </a:spcBef>
              <a:spcAft>
                <a:spcPts val="600"/>
              </a:spcAft>
              <a:buNone/>
            </a:pPr>
            <a:r>
              <a:rPr lang="en-US" sz="1500" dirty="0"/>
              <a:t>3. Number of Bathrooms </a:t>
            </a:r>
          </a:p>
          <a:p>
            <a:pPr marL="0" indent="0">
              <a:spcBef>
                <a:spcPct val="20000"/>
              </a:spcBef>
              <a:spcAft>
                <a:spcPts val="600"/>
              </a:spcAft>
              <a:buNone/>
            </a:pPr>
            <a:r>
              <a:rPr lang="en-US" sz="1500" dirty="0"/>
              <a:t>4. Price (target variable) </a:t>
            </a:r>
          </a:p>
          <a:p>
            <a:pPr marL="0" indent="0">
              <a:spcBef>
                <a:spcPct val="20000"/>
              </a:spcBef>
              <a:spcAft>
                <a:spcPts val="600"/>
              </a:spcAft>
              <a:buNone/>
            </a:pPr>
            <a:r>
              <a:rPr lang="en-US" sz="1500" dirty="0"/>
              <a:t>A sample dataset is taken for the testing and training of the AI. The dataset is as follows: </a:t>
            </a:r>
          </a:p>
          <a:p>
            <a:pPr marL="0" indent="0">
              <a:spcBef>
                <a:spcPct val="20000"/>
              </a:spcBef>
              <a:spcAft>
                <a:spcPts val="600"/>
              </a:spcAft>
              <a:buNone/>
            </a:pPr>
            <a:endParaRPr lang="en-US" sz="1500" dirty="0"/>
          </a:p>
          <a:p>
            <a:pPr marL="0" indent="0">
              <a:spcBef>
                <a:spcPct val="20000"/>
              </a:spcBef>
              <a:spcAft>
                <a:spcPts val="600"/>
              </a:spcAft>
              <a:buNone/>
            </a:pPr>
            <a:r>
              <a:rPr lang="en-US" sz="1500" dirty="0"/>
              <a:t>  </a:t>
            </a:r>
          </a:p>
          <a:p>
            <a:pPr marL="0" indent="0">
              <a:spcBef>
                <a:spcPct val="20000"/>
              </a:spcBef>
              <a:spcAft>
                <a:spcPts val="600"/>
              </a:spcAft>
              <a:buNone/>
            </a:pPr>
            <a:endParaRPr lang="en-US" sz="1500" dirty="0"/>
          </a:p>
          <a:p>
            <a:pPr marL="0" indent="0">
              <a:spcBef>
                <a:spcPct val="20000"/>
              </a:spcBef>
              <a:spcAft>
                <a:spcPts val="600"/>
              </a:spcAft>
              <a:buNone/>
            </a:pPr>
            <a:endParaRPr lang="en-US" sz="1500" dirty="0"/>
          </a:p>
          <a:p>
            <a:pPr marL="0" indent="0">
              <a:spcBef>
                <a:spcPct val="20000"/>
              </a:spcBef>
              <a:spcAft>
                <a:spcPts val="600"/>
              </a:spcAft>
              <a:buNone/>
            </a:pPr>
            <a:endParaRPr lang="en-US" sz="1500" dirty="0"/>
          </a:p>
        </p:txBody>
      </p:sp>
      <p:pic>
        <p:nvPicPr>
          <p:cNvPr id="7" name="Picture 6" descr="A table with numbers and letters&#10;&#10;AI-generated content may be incorrect.">
            <a:extLst>
              <a:ext uri="{FF2B5EF4-FFF2-40B4-BE49-F238E27FC236}">
                <a16:creationId xmlns:a16="http://schemas.microsoft.com/office/drawing/2014/main" id="{266157F6-C005-A605-DDB6-9D5E1B997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728720"/>
            <a:ext cx="6791325" cy="2719832"/>
          </a:xfrm>
          <a:prstGeom prst="rect">
            <a:avLst/>
          </a:prstGeom>
        </p:spPr>
      </p:pic>
    </p:spTree>
    <p:extLst>
      <p:ext uri="{BB962C8B-B14F-4D97-AF65-F5344CB8AC3E}">
        <p14:creationId xmlns:p14="http://schemas.microsoft.com/office/powerpoint/2010/main" val="1199084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B6F8-C919-4B09-7957-A49902CEBE1D}"/>
              </a:ext>
            </a:extLst>
          </p:cNvPr>
          <p:cNvSpPr>
            <a:spLocks noGrp="1"/>
          </p:cNvSpPr>
          <p:nvPr>
            <p:ph type="title"/>
          </p:nvPr>
        </p:nvSpPr>
        <p:spPr>
          <a:xfrm>
            <a:off x="200967" y="1"/>
            <a:ext cx="11152833" cy="1690688"/>
          </a:xfrm>
        </p:spPr>
        <p:txBody>
          <a:bodyPr/>
          <a:lstStyle/>
          <a:p>
            <a:r>
              <a:rPr lang="en-US" dirty="0"/>
              <a:t>                                                                                                                   </a:t>
            </a:r>
            <a:endParaRPr lang="en-IN" dirty="0"/>
          </a:p>
        </p:txBody>
      </p:sp>
      <p:sp>
        <p:nvSpPr>
          <p:cNvPr id="3" name="Content Placeholder 2">
            <a:extLst>
              <a:ext uri="{FF2B5EF4-FFF2-40B4-BE49-F238E27FC236}">
                <a16:creationId xmlns:a16="http://schemas.microsoft.com/office/drawing/2014/main" id="{9F2E6947-13DA-773B-862D-9219C355AA18}"/>
              </a:ext>
            </a:extLst>
          </p:cNvPr>
          <p:cNvSpPr>
            <a:spLocks noGrp="1"/>
          </p:cNvSpPr>
          <p:nvPr>
            <p:ph idx="1"/>
          </p:nvPr>
        </p:nvSpPr>
        <p:spPr>
          <a:xfrm>
            <a:off x="0" y="0"/>
            <a:ext cx="11353800" cy="6857999"/>
          </a:xfrm>
        </p:spPr>
        <p:txBody>
          <a:bodyPr>
            <a:normAutofit lnSpcReduction="10000"/>
          </a:bodyPr>
          <a:lstStyle/>
          <a:p>
            <a:pPr marL="0" indent="0">
              <a:buNone/>
            </a:pPr>
            <a:r>
              <a:rPr lang="en-US" sz="1600" b="1" dirty="0"/>
              <a:t>THE FOLLOWING CODE USED ON THE DATA SET</a:t>
            </a:r>
          </a:p>
          <a:p>
            <a:pPr marL="0" indent="0">
              <a:buNone/>
            </a:pPr>
            <a:r>
              <a:rPr lang="en-US" sz="1600" b="1" dirty="0"/>
              <a:t># Importing Libraries</a:t>
            </a:r>
          </a:p>
          <a:p>
            <a:pPr marL="0" indent="0">
              <a:buNone/>
            </a:pPr>
            <a:r>
              <a:rPr lang="en-US" sz="1600" dirty="0"/>
              <a:t>import pandas as pd </a:t>
            </a:r>
          </a:p>
          <a:p>
            <a:pPr marL="0" indent="0">
              <a:buNone/>
            </a:pPr>
            <a:r>
              <a:rPr lang="en-US" sz="1600" dirty="0"/>
              <a:t>import </a:t>
            </a:r>
            <a:r>
              <a:rPr lang="en-US" sz="1600" dirty="0" err="1"/>
              <a:t>numpy</a:t>
            </a:r>
            <a:r>
              <a:rPr lang="en-US" sz="1600" dirty="0"/>
              <a:t> as np </a:t>
            </a:r>
          </a:p>
          <a:p>
            <a:pPr marL="0" indent="0">
              <a:buNone/>
            </a:pPr>
            <a:r>
              <a:rPr lang="en-US" sz="1600" dirty="0"/>
              <a:t>import </a:t>
            </a:r>
            <a:r>
              <a:rPr lang="en-US" sz="1600" dirty="0" err="1"/>
              <a:t>matplotlib.pyplot</a:t>
            </a:r>
            <a:r>
              <a:rPr lang="en-US" sz="1600" dirty="0"/>
              <a:t> as </a:t>
            </a:r>
            <a:r>
              <a:rPr lang="en-US" sz="1600" dirty="0" err="1"/>
              <a:t>plt</a:t>
            </a:r>
            <a:r>
              <a:rPr lang="en-US" sz="1600" dirty="0"/>
              <a:t> </a:t>
            </a:r>
          </a:p>
          <a:p>
            <a:pPr marL="0" indent="0">
              <a:buNone/>
            </a:pPr>
            <a:r>
              <a:rPr lang="en-US" sz="1600" dirty="0"/>
              <a:t>import seaborn as </a:t>
            </a:r>
            <a:r>
              <a:rPr lang="en-US" sz="1600" dirty="0" err="1"/>
              <a:t>sns</a:t>
            </a:r>
            <a:r>
              <a:rPr lang="en-US" sz="1600" dirty="0"/>
              <a:t> </a:t>
            </a:r>
          </a:p>
          <a:p>
            <a:pPr marL="0" indent="0">
              <a:buNone/>
            </a:pPr>
            <a:r>
              <a:rPr lang="en-US" sz="1600" dirty="0"/>
              <a:t>from </a:t>
            </a:r>
            <a:r>
              <a:rPr lang="en-US" sz="1600" dirty="0" err="1"/>
              <a:t>sklearn.model_selecƟon</a:t>
            </a:r>
            <a:r>
              <a:rPr lang="en-US" sz="1600" dirty="0"/>
              <a:t> import </a:t>
            </a:r>
            <a:r>
              <a:rPr lang="en-US" sz="1600" dirty="0" err="1"/>
              <a:t>train_test_split</a:t>
            </a:r>
            <a:endParaRPr lang="en-US" sz="1600" dirty="0"/>
          </a:p>
          <a:p>
            <a:pPr marL="0" indent="0">
              <a:buNone/>
            </a:pPr>
            <a:r>
              <a:rPr lang="en-US" sz="1600" dirty="0"/>
              <a:t>from </a:t>
            </a:r>
            <a:r>
              <a:rPr lang="en-US" sz="1600" dirty="0" err="1"/>
              <a:t>sklearn.linear_model</a:t>
            </a:r>
            <a:r>
              <a:rPr lang="en-US" sz="1600" dirty="0"/>
              <a:t> import </a:t>
            </a:r>
            <a:r>
              <a:rPr lang="en-US" sz="1600" dirty="0" err="1"/>
              <a:t>LinearRegression</a:t>
            </a:r>
            <a:r>
              <a:rPr lang="en-US" sz="1600" dirty="0"/>
              <a:t> </a:t>
            </a:r>
          </a:p>
          <a:p>
            <a:pPr marL="0" indent="0">
              <a:buNone/>
            </a:pPr>
            <a:r>
              <a:rPr lang="en-US" sz="1600" dirty="0"/>
              <a:t>from </a:t>
            </a:r>
            <a:r>
              <a:rPr lang="en-US" sz="1600" dirty="0" err="1"/>
              <a:t>sklearn.metrics</a:t>
            </a:r>
            <a:r>
              <a:rPr lang="en-US" sz="1600" dirty="0"/>
              <a:t> import r2_score, </a:t>
            </a:r>
            <a:r>
              <a:rPr lang="en-US" sz="1600" dirty="0" err="1"/>
              <a:t>mean_absolute_error</a:t>
            </a:r>
            <a:r>
              <a:rPr lang="en-US" sz="1600" dirty="0"/>
              <a:t>, </a:t>
            </a:r>
          </a:p>
          <a:p>
            <a:pPr marL="0" indent="0">
              <a:buNone/>
            </a:pPr>
            <a:r>
              <a:rPr lang="en-US" sz="1600" dirty="0" err="1"/>
              <a:t>mean_squared_error</a:t>
            </a:r>
            <a:r>
              <a:rPr lang="en-US" sz="1600" dirty="0"/>
              <a:t> </a:t>
            </a:r>
          </a:p>
          <a:p>
            <a:pPr marL="0" indent="0">
              <a:buNone/>
            </a:pPr>
            <a:r>
              <a:rPr lang="en-US" sz="1600" b="1" dirty="0"/>
              <a:t># Loading Dataset </a:t>
            </a:r>
          </a:p>
          <a:p>
            <a:pPr marL="0" indent="0">
              <a:buNone/>
            </a:pPr>
            <a:r>
              <a:rPr lang="en-US" sz="1600" dirty="0" err="1"/>
              <a:t>df</a:t>
            </a:r>
            <a:r>
              <a:rPr lang="en-US" sz="1600" dirty="0"/>
              <a:t> = </a:t>
            </a:r>
            <a:r>
              <a:rPr lang="en-US" sz="1600" dirty="0" err="1"/>
              <a:t>pd.read_csv</a:t>
            </a:r>
            <a:r>
              <a:rPr lang="en-US" sz="1600" dirty="0"/>
              <a:t>('house_data.csv’)</a:t>
            </a:r>
          </a:p>
          <a:p>
            <a:pPr marL="0" indent="0">
              <a:buNone/>
            </a:pPr>
            <a:r>
              <a:rPr lang="en-US" sz="1600" b="1" dirty="0"/>
              <a:t># Display first few rows </a:t>
            </a:r>
          </a:p>
          <a:p>
            <a:pPr marL="0" indent="0">
              <a:buNone/>
            </a:pPr>
            <a:r>
              <a:rPr lang="en-US" sz="1600" dirty="0"/>
              <a:t>print(</a:t>
            </a:r>
            <a:r>
              <a:rPr lang="en-US" sz="1600" dirty="0" err="1"/>
              <a:t>df.head</a:t>
            </a:r>
            <a:r>
              <a:rPr lang="en-US" sz="1600" dirty="0"/>
              <a:t>()) </a:t>
            </a:r>
          </a:p>
          <a:p>
            <a:pPr marL="0" indent="0">
              <a:buNone/>
            </a:pPr>
            <a:r>
              <a:rPr lang="en-US" sz="1600" b="1" dirty="0"/>
              <a:t># Checking for null values </a:t>
            </a:r>
          </a:p>
          <a:p>
            <a:pPr marL="0" indent="0">
              <a:buNone/>
            </a:pPr>
            <a:r>
              <a:rPr lang="en-US" sz="1600" dirty="0"/>
              <a:t>print(</a:t>
            </a:r>
            <a:r>
              <a:rPr lang="en-US" sz="1600" dirty="0" err="1"/>
              <a:t>df.isnull</a:t>
            </a:r>
            <a:r>
              <a:rPr lang="en-US" sz="1600" dirty="0"/>
              <a:t>().sum()) </a:t>
            </a:r>
          </a:p>
          <a:p>
            <a:pPr marL="0" indent="0">
              <a:buNone/>
            </a:pPr>
            <a:r>
              <a:rPr lang="en-US" sz="1600" b="1" dirty="0"/>
              <a:t># Filling or Dropping Nulls (if any) </a:t>
            </a:r>
          </a:p>
          <a:p>
            <a:pPr marL="0" indent="0">
              <a:buNone/>
            </a:pPr>
            <a:r>
              <a:rPr lang="en-US" sz="1600" dirty="0" err="1"/>
              <a:t>df.dropna</a:t>
            </a:r>
            <a:r>
              <a:rPr lang="en-US" sz="1600" dirty="0"/>
              <a:t>(</a:t>
            </a:r>
            <a:r>
              <a:rPr lang="en-US" sz="1600" dirty="0" err="1"/>
              <a:t>inplace</a:t>
            </a:r>
            <a:r>
              <a:rPr lang="en-US" sz="1600" dirty="0"/>
              <a:t>=True) </a:t>
            </a:r>
          </a:p>
          <a:p>
            <a:pPr marL="0" indent="0">
              <a:buNone/>
            </a:pPr>
            <a:r>
              <a:rPr lang="en-US" sz="1600" b="1" dirty="0"/>
              <a:t># Exploratory Data Analysis</a:t>
            </a:r>
          </a:p>
          <a:p>
            <a:pPr marL="0" indent="0">
              <a:buNone/>
            </a:pPr>
            <a:r>
              <a:rPr lang="en-US" sz="1600" dirty="0" err="1"/>
              <a:t>Sns.pairplort</a:t>
            </a:r>
            <a:r>
              <a:rPr lang="en-US" sz="1600" dirty="0"/>
              <a:t>(</a:t>
            </a:r>
            <a:r>
              <a:rPr lang="en-US" sz="1600" dirty="0" err="1"/>
              <a:t>df</a:t>
            </a:r>
            <a:r>
              <a:rPr lang="en-US" sz="1600" dirty="0"/>
              <a:t>)</a:t>
            </a:r>
          </a:p>
          <a:p>
            <a:pPr marL="0" indent="0">
              <a:buNone/>
            </a:pPr>
            <a:r>
              <a:rPr lang="en-US" sz="1600" dirty="0" err="1"/>
              <a:t>Plt.show</a:t>
            </a:r>
            <a:r>
              <a:rPr lang="en-US" sz="1600" dirty="0"/>
              <a:t>()</a:t>
            </a:r>
          </a:p>
          <a:p>
            <a:pPr marL="0" indent="0">
              <a:buNone/>
            </a:pPr>
            <a:endParaRPr lang="en-US" sz="1600" dirty="0"/>
          </a:p>
        </p:txBody>
      </p:sp>
    </p:spTree>
    <p:extLst>
      <p:ext uri="{BB962C8B-B14F-4D97-AF65-F5344CB8AC3E}">
        <p14:creationId xmlns:p14="http://schemas.microsoft.com/office/powerpoint/2010/main" val="42726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68DE7-5E4F-27D9-8D72-5BCC2032B5F2}"/>
              </a:ext>
            </a:extLst>
          </p:cNvPr>
          <p:cNvSpPr>
            <a:spLocks noGrp="1"/>
          </p:cNvSpPr>
          <p:nvPr>
            <p:ph type="title"/>
          </p:nvPr>
        </p:nvSpPr>
        <p:spPr/>
        <p:txBody>
          <a:bodyPr/>
          <a:lstStyle/>
          <a:p>
            <a:r>
              <a:rPr lang="en-US" dirty="0"/>
              <a:t>                                                                                                                                           </a:t>
            </a:r>
            <a:endParaRPr lang="en-IN" dirty="0"/>
          </a:p>
        </p:txBody>
      </p:sp>
      <p:sp>
        <p:nvSpPr>
          <p:cNvPr id="3" name="Content Placeholder 2">
            <a:extLst>
              <a:ext uri="{FF2B5EF4-FFF2-40B4-BE49-F238E27FC236}">
                <a16:creationId xmlns:a16="http://schemas.microsoft.com/office/drawing/2014/main" id="{3A4E3D7F-49A3-544C-536D-A1F2F086D6B1}"/>
              </a:ext>
            </a:extLst>
          </p:cNvPr>
          <p:cNvSpPr>
            <a:spLocks noGrp="1"/>
          </p:cNvSpPr>
          <p:nvPr>
            <p:ph idx="1"/>
          </p:nvPr>
        </p:nvSpPr>
        <p:spPr>
          <a:xfrm>
            <a:off x="1" y="0"/>
            <a:ext cx="12309230" cy="6857999"/>
          </a:xfrm>
        </p:spPr>
        <p:txBody>
          <a:bodyPr>
            <a:normAutofit lnSpcReduction="10000"/>
          </a:bodyPr>
          <a:lstStyle/>
          <a:p>
            <a:pPr marL="0" indent="0">
              <a:buNone/>
            </a:pPr>
            <a:r>
              <a:rPr lang="en-IN" sz="1400" b="1" dirty="0"/>
              <a:t># Correlation Heatmap</a:t>
            </a:r>
          </a:p>
          <a:p>
            <a:pPr marL="0" indent="0">
              <a:buNone/>
            </a:pPr>
            <a:r>
              <a:rPr lang="en-IN" sz="1400" b="1" dirty="0"/>
              <a:t> </a:t>
            </a:r>
            <a:r>
              <a:rPr lang="en-IN" sz="1400" dirty="0" err="1"/>
              <a:t>sns.heatmap</a:t>
            </a:r>
            <a:r>
              <a:rPr lang="en-IN" sz="1400" dirty="0"/>
              <a:t>(</a:t>
            </a:r>
            <a:r>
              <a:rPr lang="en-IN" sz="1400" dirty="0" err="1"/>
              <a:t>df.corr</a:t>
            </a:r>
            <a:r>
              <a:rPr lang="en-IN" sz="1400" dirty="0"/>
              <a:t>(), </a:t>
            </a:r>
            <a:r>
              <a:rPr lang="en-IN" sz="1400" dirty="0" err="1"/>
              <a:t>annot</a:t>
            </a:r>
            <a:r>
              <a:rPr lang="en-IN" sz="1400" dirty="0"/>
              <a:t>=True) </a:t>
            </a:r>
          </a:p>
          <a:p>
            <a:pPr marL="0" indent="0">
              <a:buNone/>
            </a:pPr>
            <a:r>
              <a:rPr lang="en-IN" sz="1400" dirty="0"/>
              <a:t> </a:t>
            </a:r>
            <a:r>
              <a:rPr lang="en-IN" sz="1400" dirty="0" err="1"/>
              <a:t>plt.show</a:t>
            </a:r>
            <a:r>
              <a:rPr lang="en-IN" sz="1400" dirty="0"/>
              <a:t>() </a:t>
            </a:r>
          </a:p>
          <a:p>
            <a:pPr marL="0" indent="0">
              <a:buNone/>
            </a:pPr>
            <a:r>
              <a:rPr lang="en-IN" sz="1400" b="1" dirty="0"/>
              <a:t># Feature Selection</a:t>
            </a:r>
          </a:p>
          <a:p>
            <a:pPr marL="0" indent="0">
              <a:buNone/>
            </a:pPr>
            <a:r>
              <a:rPr lang="en-IN" sz="1400" dirty="0"/>
              <a:t>X = </a:t>
            </a:r>
            <a:r>
              <a:rPr lang="en-IN" sz="1400" dirty="0" err="1"/>
              <a:t>df</a:t>
            </a:r>
            <a:r>
              <a:rPr lang="en-IN" sz="1400" dirty="0"/>
              <a:t>[['Area', 'Bedrooms', 'Bathrooms']] # Example features </a:t>
            </a:r>
          </a:p>
          <a:p>
            <a:pPr marL="0" indent="0">
              <a:buNone/>
            </a:pPr>
            <a:r>
              <a:rPr lang="en-IN" sz="1400" dirty="0"/>
              <a:t>y = </a:t>
            </a:r>
            <a:r>
              <a:rPr lang="en-IN" sz="1400" dirty="0" err="1"/>
              <a:t>df</a:t>
            </a:r>
            <a:r>
              <a:rPr lang="en-IN" sz="1400" dirty="0"/>
              <a:t>['Price'] # Target variable </a:t>
            </a:r>
          </a:p>
          <a:p>
            <a:pPr marL="0" indent="0">
              <a:buNone/>
            </a:pPr>
            <a:r>
              <a:rPr lang="en-IN" sz="1400" b="1" dirty="0"/>
              <a:t># </a:t>
            </a:r>
            <a:r>
              <a:rPr lang="en-IN" sz="1400" b="1" dirty="0" err="1"/>
              <a:t>Spliƫng</a:t>
            </a:r>
            <a:r>
              <a:rPr lang="en-IN" sz="1400" b="1" dirty="0"/>
              <a:t> Data</a:t>
            </a:r>
          </a:p>
          <a:p>
            <a:pPr marL="0" indent="0">
              <a:buNone/>
            </a:pPr>
            <a:r>
              <a:rPr lang="en-IN" sz="1400" dirty="0" err="1"/>
              <a:t>X_train</a:t>
            </a:r>
            <a:r>
              <a:rPr lang="en-IN" sz="1400" dirty="0"/>
              <a:t>, </a:t>
            </a:r>
            <a:r>
              <a:rPr lang="en-IN" sz="1400" dirty="0" err="1"/>
              <a:t>X_test</a:t>
            </a:r>
            <a:r>
              <a:rPr lang="en-IN" sz="1400" dirty="0"/>
              <a:t>, </a:t>
            </a:r>
            <a:r>
              <a:rPr lang="en-IN" sz="1400" dirty="0" err="1"/>
              <a:t>y_train</a:t>
            </a:r>
            <a:r>
              <a:rPr lang="en-IN" sz="1400" dirty="0"/>
              <a:t>, </a:t>
            </a:r>
            <a:r>
              <a:rPr lang="en-IN" sz="1400" dirty="0" err="1"/>
              <a:t>y_test</a:t>
            </a:r>
            <a:r>
              <a:rPr lang="en-IN" sz="1400" dirty="0"/>
              <a:t> = </a:t>
            </a:r>
            <a:r>
              <a:rPr lang="en-IN" sz="1400" dirty="0" err="1"/>
              <a:t>train_test_split</a:t>
            </a:r>
            <a:r>
              <a:rPr lang="en-IN" sz="1400" dirty="0"/>
              <a:t>(X, y, </a:t>
            </a:r>
            <a:r>
              <a:rPr lang="en-IN" sz="1400" dirty="0" err="1"/>
              <a:t>test_size</a:t>
            </a:r>
            <a:r>
              <a:rPr lang="en-IN" sz="1400" dirty="0"/>
              <a:t>=0.2, </a:t>
            </a:r>
            <a:r>
              <a:rPr lang="en-IN" sz="1400" dirty="0" err="1"/>
              <a:t>random_state</a:t>
            </a:r>
            <a:r>
              <a:rPr lang="en-IN" sz="1400" dirty="0"/>
              <a:t>=42) </a:t>
            </a:r>
          </a:p>
          <a:p>
            <a:pPr marL="0" indent="0">
              <a:buNone/>
            </a:pPr>
            <a:r>
              <a:rPr lang="en-IN" sz="1400" b="1" dirty="0"/>
              <a:t># Model Training </a:t>
            </a:r>
          </a:p>
          <a:p>
            <a:pPr marL="0" indent="0">
              <a:buNone/>
            </a:pPr>
            <a:r>
              <a:rPr lang="en-IN" sz="1400" dirty="0"/>
              <a:t>model = </a:t>
            </a:r>
            <a:r>
              <a:rPr lang="en-IN" sz="1400" dirty="0" err="1"/>
              <a:t>LinearRegression</a:t>
            </a:r>
            <a:r>
              <a:rPr lang="en-IN" sz="1400" dirty="0"/>
              <a:t>() </a:t>
            </a:r>
          </a:p>
          <a:p>
            <a:pPr marL="0" indent="0">
              <a:buNone/>
            </a:pPr>
            <a:r>
              <a:rPr lang="en-IN" sz="1400" dirty="0" err="1"/>
              <a:t>model.fit</a:t>
            </a:r>
            <a:r>
              <a:rPr lang="en-IN" sz="1400" dirty="0"/>
              <a:t>(</a:t>
            </a:r>
            <a:r>
              <a:rPr lang="en-IN" sz="1400" dirty="0" err="1"/>
              <a:t>X_train</a:t>
            </a:r>
            <a:r>
              <a:rPr lang="en-IN" sz="1400" dirty="0"/>
              <a:t>, </a:t>
            </a:r>
            <a:r>
              <a:rPr lang="en-IN" sz="1400" dirty="0" err="1"/>
              <a:t>y_train</a:t>
            </a:r>
            <a:r>
              <a:rPr lang="en-IN" sz="1400" dirty="0"/>
              <a:t>) </a:t>
            </a:r>
          </a:p>
          <a:p>
            <a:pPr marL="0" indent="0">
              <a:buNone/>
            </a:pPr>
            <a:r>
              <a:rPr lang="en-IN" sz="1400" b="1" dirty="0"/>
              <a:t># Prediction</a:t>
            </a:r>
          </a:p>
          <a:p>
            <a:pPr marL="0" indent="0">
              <a:buNone/>
            </a:pPr>
            <a:r>
              <a:rPr lang="en-IN" sz="1400" dirty="0" err="1"/>
              <a:t>y_pred</a:t>
            </a:r>
            <a:r>
              <a:rPr lang="en-IN" sz="1400" dirty="0"/>
              <a:t> = </a:t>
            </a:r>
            <a:r>
              <a:rPr lang="en-IN" sz="1400" dirty="0" err="1"/>
              <a:t>model.predict</a:t>
            </a:r>
            <a:r>
              <a:rPr lang="en-IN" sz="1400" dirty="0"/>
              <a:t>(</a:t>
            </a:r>
            <a:r>
              <a:rPr lang="en-IN" sz="1400" dirty="0" err="1"/>
              <a:t>X_test</a:t>
            </a:r>
            <a:r>
              <a:rPr lang="en-IN" sz="1400" dirty="0"/>
              <a:t>) </a:t>
            </a:r>
          </a:p>
          <a:p>
            <a:pPr marL="0" indent="0">
              <a:buNone/>
            </a:pPr>
            <a:r>
              <a:rPr lang="en-IN" sz="1400" b="1" dirty="0"/>
              <a:t># Model Evaluation</a:t>
            </a:r>
          </a:p>
          <a:p>
            <a:pPr marL="0" indent="0">
              <a:buNone/>
            </a:pPr>
            <a:r>
              <a:rPr lang="en-IN" sz="1400" dirty="0"/>
              <a:t>print("R2 Score:", r2_score(</a:t>
            </a:r>
            <a:r>
              <a:rPr lang="en-IN" sz="1400" dirty="0" err="1"/>
              <a:t>y_test</a:t>
            </a:r>
            <a:r>
              <a:rPr lang="en-IN" sz="1400" dirty="0"/>
              <a:t>, </a:t>
            </a:r>
            <a:r>
              <a:rPr lang="en-IN" sz="1400" dirty="0" err="1"/>
              <a:t>y_pred</a:t>
            </a:r>
            <a:r>
              <a:rPr lang="en-IN" sz="1400" dirty="0"/>
              <a:t>)) </a:t>
            </a:r>
          </a:p>
          <a:p>
            <a:pPr marL="0" indent="0">
              <a:buNone/>
            </a:pPr>
            <a:r>
              <a:rPr lang="en-IN" sz="1400" dirty="0"/>
              <a:t>print("Mean Absolute Error:", </a:t>
            </a:r>
            <a:r>
              <a:rPr lang="en-IN" sz="1400" dirty="0" err="1"/>
              <a:t>mean_absolute_error</a:t>
            </a:r>
            <a:r>
              <a:rPr lang="en-IN" sz="1400" dirty="0"/>
              <a:t>(</a:t>
            </a:r>
            <a:r>
              <a:rPr lang="en-IN" sz="1400" dirty="0" err="1"/>
              <a:t>y_test</a:t>
            </a:r>
            <a:r>
              <a:rPr lang="en-IN" sz="1400" dirty="0"/>
              <a:t>, </a:t>
            </a:r>
            <a:r>
              <a:rPr lang="en-IN" sz="1400" dirty="0" err="1"/>
              <a:t>y_pred</a:t>
            </a:r>
            <a:r>
              <a:rPr lang="en-IN" sz="1400" dirty="0"/>
              <a:t>)) </a:t>
            </a:r>
          </a:p>
          <a:p>
            <a:pPr marL="0" indent="0">
              <a:buNone/>
            </a:pPr>
            <a:r>
              <a:rPr lang="en-IN" sz="1400" dirty="0"/>
              <a:t>print("Mean Squared Error:", </a:t>
            </a:r>
            <a:r>
              <a:rPr lang="en-IN" sz="1400" dirty="0" err="1"/>
              <a:t>mean_squared_error</a:t>
            </a:r>
            <a:r>
              <a:rPr lang="en-IN" sz="1400" dirty="0"/>
              <a:t>(</a:t>
            </a:r>
            <a:r>
              <a:rPr lang="en-IN" sz="1400" dirty="0" err="1"/>
              <a:t>y_test</a:t>
            </a:r>
            <a:r>
              <a:rPr lang="en-IN" sz="1400" dirty="0"/>
              <a:t>, </a:t>
            </a:r>
            <a:r>
              <a:rPr lang="en-IN" sz="1400" dirty="0" err="1"/>
              <a:t>y_pred</a:t>
            </a:r>
            <a:r>
              <a:rPr lang="en-IN" sz="1400" dirty="0"/>
              <a:t>)) </a:t>
            </a:r>
          </a:p>
          <a:p>
            <a:pPr marL="0" indent="0">
              <a:buNone/>
            </a:pPr>
            <a:r>
              <a:rPr lang="en-IN" sz="1400" b="1" dirty="0"/>
              <a:t># Visualizing Actual vs Predicted Prices</a:t>
            </a:r>
          </a:p>
          <a:p>
            <a:pPr marL="0" indent="0">
              <a:buNone/>
            </a:pPr>
            <a:r>
              <a:rPr lang="en-IN" sz="1400" dirty="0" err="1"/>
              <a:t>plt.scatter</a:t>
            </a:r>
            <a:r>
              <a:rPr lang="en-IN" sz="1400" dirty="0"/>
              <a:t>(</a:t>
            </a:r>
            <a:r>
              <a:rPr lang="en-IN" sz="1400" dirty="0" err="1"/>
              <a:t>y_test</a:t>
            </a:r>
            <a:r>
              <a:rPr lang="en-IN" sz="1400" dirty="0"/>
              <a:t>, </a:t>
            </a:r>
            <a:r>
              <a:rPr lang="en-IN" sz="1400" dirty="0" err="1"/>
              <a:t>y_pred</a:t>
            </a:r>
            <a:r>
              <a:rPr lang="en-IN" sz="1400" dirty="0"/>
              <a:t>)</a:t>
            </a:r>
          </a:p>
          <a:p>
            <a:pPr marL="0" indent="0">
              <a:buNone/>
            </a:pPr>
            <a:r>
              <a:rPr lang="en-IN" sz="1400" dirty="0" err="1"/>
              <a:t>plt.xlabel</a:t>
            </a:r>
            <a:r>
              <a:rPr lang="en-IN" sz="1400" dirty="0"/>
              <a:t>('Actual Price')</a:t>
            </a:r>
          </a:p>
          <a:p>
            <a:pPr marL="0" indent="0">
              <a:buNone/>
            </a:pPr>
            <a:r>
              <a:rPr lang="en-IN" sz="1400" dirty="0" err="1"/>
              <a:t>plt.ylabel</a:t>
            </a:r>
            <a:r>
              <a:rPr lang="en-IN" sz="1400" dirty="0"/>
              <a:t>('Predicted Price')</a:t>
            </a:r>
          </a:p>
          <a:p>
            <a:pPr marL="0" indent="0">
              <a:buNone/>
            </a:pPr>
            <a:r>
              <a:rPr lang="en-IN" sz="1400" dirty="0" err="1"/>
              <a:t>plt.title</a:t>
            </a:r>
            <a:r>
              <a:rPr lang="en-IN" sz="1400" dirty="0"/>
              <a:t>('Actual vs Predicted House Prices')</a:t>
            </a:r>
          </a:p>
          <a:p>
            <a:pPr marL="0" indent="0">
              <a:buNone/>
            </a:pPr>
            <a:r>
              <a:rPr lang="en-IN" sz="1400" dirty="0" err="1"/>
              <a:t>plt.show</a:t>
            </a:r>
            <a:r>
              <a:rPr lang="en-IN" sz="1400" dirty="0"/>
              <a:t>()</a:t>
            </a:r>
          </a:p>
        </p:txBody>
      </p:sp>
    </p:spTree>
    <p:extLst>
      <p:ext uri="{BB962C8B-B14F-4D97-AF65-F5344CB8AC3E}">
        <p14:creationId xmlns:p14="http://schemas.microsoft.com/office/powerpoint/2010/main" val="1756461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Result</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table with numbers and letters">
            <a:extLst>
              <a:ext uri="{FF2B5EF4-FFF2-40B4-BE49-F238E27FC236}">
                <a16:creationId xmlns:a16="http://schemas.microsoft.com/office/drawing/2014/main" id="{2CCC55F9-3E99-ED55-62D2-FC0CF79627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7354" y="1928813"/>
            <a:ext cx="7337292" cy="4252912"/>
          </a:xfrm>
        </p:spPr>
      </p:pic>
    </p:spTree>
    <p:extLst>
      <p:ext uri="{BB962C8B-B14F-4D97-AF65-F5344CB8AC3E}">
        <p14:creationId xmlns:p14="http://schemas.microsoft.com/office/powerpoint/2010/main" val="58742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E8996-ECC4-8F85-B6AD-E5A386D611E6}"/>
              </a:ext>
            </a:extLst>
          </p:cNvPr>
          <p:cNvSpPr>
            <a:spLocks noGrp="1"/>
          </p:cNvSpPr>
          <p:nvPr>
            <p:ph type="title"/>
          </p:nvPr>
        </p:nvSpPr>
        <p:spPr/>
        <p:txBody>
          <a:bodyPr/>
          <a:lstStyle/>
          <a:p>
            <a:r>
              <a:rPr lang="en-US" dirty="0"/>
              <a:t>                                                                                                                    </a:t>
            </a:r>
            <a:endParaRPr lang="en-IN" dirty="0"/>
          </a:p>
        </p:txBody>
      </p:sp>
      <p:pic>
        <p:nvPicPr>
          <p:cNvPr id="5" name="Content Placeholder 4" descr="A graph of different sizes and shapes&#10;&#10;AI-generated content may be incorrect.">
            <a:extLst>
              <a:ext uri="{FF2B5EF4-FFF2-40B4-BE49-F238E27FC236}">
                <a16:creationId xmlns:a16="http://schemas.microsoft.com/office/drawing/2014/main" id="{B2E2E52B-9B68-4019-9B9B-47318EF8F5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1121" y="227894"/>
            <a:ext cx="6571622" cy="6551689"/>
          </a:xfrm>
        </p:spPr>
      </p:pic>
    </p:spTree>
    <p:extLst>
      <p:ext uri="{BB962C8B-B14F-4D97-AF65-F5344CB8AC3E}">
        <p14:creationId xmlns:p14="http://schemas.microsoft.com/office/powerpoint/2010/main" val="164271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7B13F-64AF-08E8-ADE3-43617AF9807C}"/>
              </a:ext>
            </a:extLst>
          </p:cNvPr>
          <p:cNvSpPr>
            <a:spLocks noGrp="1"/>
          </p:cNvSpPr>
          <p:nvPr>
            <p:ph type="title"/>
          </p:nvPr>
        </p:nvSpPr>
        <p:spPr>
          <a:xfrm>
            <a:off x="120579" y="1"/>
            <a:ext cx="11880501" cy="823964"/>
          </a:xfrm>
        </p:spPr>
        <p:txBody>
          <a:bodyPr>
            <a:normAutofit fontScale="90000"/>
          </a:bodyPr>
          <a:lstStyle/>
          <a:p>
            <a:br>
              <a:rPr lang="en-US" sz="1800" b="1" dirty="0"/>
            </a:br>
            <a:r>
              <a:rPr lang="en-US" sz="1800" b="1" dirty="0"/>
              <a:t>Pair-plot relationships:</a:t>
            </a:r>
            <a:br>
              <a:rPr lang="en-US" sz="1800" b="1" dirty="0"/>
            </a:br>
            <a:r>
              <a:rPr lang="en-US" sz="1800" dirty="0"/>
              <a:t>Linear relationships between all features and price justify using Linear Regression. Larger homes (Area) consistently command higher prices.</a:t>
            </a:r>
            <a:br>
              <a:rPr lang="en-US" sz="1800" dirty="0"/>
            </a:br>
            <a:endParaRPr lang="en-IN" sz="1800" dirty="0"/>
          </a:p>
        </p:txBody>
      </p:sp>
      <p:sp>
        <p:nvSpPr>
          <p:cNvPr id="3" name="Content Placeholder 2">
            <a:extLst>
              <a:ext uri="{FF2B5EF4-FFF2-40B4-BE49-F238E27FC236}">
                <a16:creationId xmlns:a16="http://schemas.microsoft.com/office/drawing/2014/main" id="{315DAB84-2C3F-478C-C061-D5FD4BAC64ED}"/>
              </a:ext>
            </a:extLst>
          </p:cNvPr>
          <p:cNvSpPr>
            <a:spLocks noGrp="1"/>
          </p:cNvSpPr>
          <p:nvPr>
            <p:ph idx="1"/>
          </p:nvPr>
        </p:nvSpPr>
        <p:spPr>
          <a:xfrm>
            <a:off x="0" y="4419132"/>
            <a:ext cx="12192001" cy="2438866"/>
          </a:xfrm>
        </p:spPr>
        <p:txBody>
          <a:bodyPr>
            <a:normAutofit/>
          </a:bodyPr>
          <a:lstStyle/>
          <a:p>
            <a:pPr marL="0" indent="0">
              <a:buNone/>
            </a:pPr>
            <a:r>
              <a:rPr lang="en-US" sz="1400" dirty="0"/>
              <a:t>Heat map correlation:</a:t>
            </a:r>
          </a:p>
          <a:p>
            <a:pPr marL="0" indent="0">
              <a:buNone/>
            </a:pPr>
            <a:r>
              <a:rPr lang="en-US" sz="1400" dirty="0"/>
              <a:t>Area has the highest correlation with price (0.99 → near-perfect linear relationship). Bedrooms and bathrooms are also strongly correlated with price (0.94–0.97)</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a:t>
            </a:r>
            <a:endParaRPr lang="en-IN" sz="1400" dirty="0"/>
          </a:p>
        </p:txBody>
      </p:sp>
      <p:pic>
        <p:nvPicPr>
          <p:cNvPr id="9" name="Picture 8" descr="A screenshot of a graph&#10;&#10;AI-generated content may be incorrect.">
            <a:extLst>
              <a:ext uri="{FF2B5EF4-FFF2-40B4-BE49-F238E27FC236}">
                <a16:creationId xmlns:a16="http://schemas.microsoft.com/office/drawing/2014/main" id="{DE0F6D73-5EA6-4A21-65F4-C7B8655D8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0896" y="653741"/>
            <a:ext cx="4720251" cy="3765391"/>
          </a:xfrm>
          <a:prstGeom prst="rect">
            <a:avLst/>
          </a:prstGeom>
        </p:spPr>
      </p:pic>
      <p:pic>
        <p:nvPicPr>
          <p:cNvPr id="11" name="Picture 10">
            <a:extLst>
              <a:ext uri="{FF2B5EF4-FFF2-40B4-BE49-F238E27FC236}">
                <a16:creationId xmlns:a16="http://schemas.microsoft.com/office/drawing/2014/main" id="{3BCF325C-EC01-1C91-58DF-E17187C41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579" y="5174902"/>
            <a:ext cx="5476353" cy="1135464"/>
          </a:xfrm>
          <a:prstGeom prst="rect">
            <a:avLst/>
          </a:prstGeom>
        </p:spPr>
      </p:pic>
    </p:spTree>
    <p:extLst>
      <p:ext uri="{BB962C8B-B14F-4D97-AF65-F5344CB8AC3E}">
        <p14:creationId xmlns:p14="http://schemas.microsoft.com/office/powerpoint/2010/main" val="4056901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695D0-839A-C569-7BE6-9C0EF370C643}"/>
              </a:ext>
            </a:extLst>
          </p:cNvPr>
          <p:cNvSpPr>
            <a:spLocks noGrp="1"/>
          </p:cNvSpPr>
          <p:nvPr>
            <p:ph type="title"/>
          </p:nvPr>
        </p:nvSpPr>
        <p:spPr>
          <a:xfrm>
            <a:off x="110533" y="0"/>
            <a:ext cx="11414926" cy="2833635"/>
          </a:xfrm>
        </p:spPr>
        <p:txBody>
          <a:bodyPr/>
          <a:lstStyle/>
          <a:p>
            <a:r>
              <a:rPr lang="en-US" dirty="0"/>
              <a:t>                                                                                                                                                                                                         </a:t>
            </a:r>
            <a:endParaRPr lang="en-IN" dirty="0"/>
          </a:p>
        </p:txBody>
      </p:sp>
      <p:sp>
        <p:nvSpPr>
          <p:cNvPr id="3" name="Content Placeholder 2">
            <a:extLst>
              <a:ext uri="{FF2B5EF4-FFF2-40B4-BE49-F238E27FC236}">
                <a16:creationId xmlns:a16="http://schemas.microsoft.com/office/drawing/2014/main" id="{92698EFA-91A8-5A2A-1E04-F9932A673D86}"/>
              </a:ext>
              <a:ext uri="{C183D7F6-B498-43B3-948B-1728B52AA6E4}">
                <adec:decorative xmlns:adec="http://schemas.microsoft.com/office/drawing/2017/decorative" val="1"/>
              </a:ext>
            </a:extLst>
          </p:cNvPr>
          <p:cNvSpPr>
            <a:spLocks noGrp="1"/>
          </p:cNvSpPr>
          <p:nvPr>
            <p:ph idx="1"/>
          </p:nvPr>
        </p:nvSpPr>
        <p:spPr>
          <a:xfrm>
            <a:off x="0" y="200966"/>
            <a:ext cx="14690690" cy="7516167"/>
          </a:xfrm>
        </p:spPr>
        <p:txBody>
          <a:bodyPr>
            <a:normAutofit/>
          </a:bodyPr>
          <a:lstStyle/>
          <a:p>
            <a:pPr marL="0" indent="0">
              <a:buNone/>
            </a:pPr>
            <a:r>
              <a:rPr lang="en-US" sz="1600" b="1" dirty="0"/>
              <a:t>Key Observations:</a:t>
            </a:r>
          </a:p>
          <a:p>
            <a:pPr marL="0" indent="0">
              <a:buNone/>
            </a:pPr>
            <a:r>
              <a:rPr lang="en-US" sz="1600" b="1" dirty="0"/>
              <a:t>        1. Exceptional R² Score (0.978)</a:t>
            </a:r>
            <a:r>
              <a:rPr lang="en-US" sz="1600" dirty="0"/>
              <a:t> indicates the model fits the data almost perfectly.</a:t>
            </a:r>
          </a:p>
          <a:p>
            <a:pPr marL="0" indent="0">
              <a:buNone/>
            </a:pPr>
            <a:r>
              <a:rPr lang="en-US" sz="1600" b="1" dirty="0"/>
              <a:t>         2. Low errors (MAE: $3.979</a:t>
            </a:r>
            <a:r>
              <a:rPr lang="en-US" sz="1600" dirty="0"/>
              <a:t>) suggest high practical accuracy for real-world use.</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a:t>                       Pointer </a:t>
            </a:r>
            <a:r>
              <a:rPr lang="en-US" sz="1600" dirty="0"/>
              <a:t>cluster tightly around the ideal line (scope=1),confirming model accuracy .</a:t>
            </a:r>
            <a:endParaRPr lang="en-IN" sz="1600" dirty="0"/>
          </a:p>
        </p:txBody>
      </p:sp>
      <p:pic>
        <p:nvPicPr>
          <p:cNvPr id="5" name="Picture 4" descr="A graph with a dotted line&#10;&#10;AI-generated content may be incorrect.">
            <a:extLst>
              <a:ext uri="{FF2B5EF4-FFF2-40B4-BE49-F238E27FC236}">
                <a16:creationId xmlns:a16="http://schemas.microsoft.com/office/drawing/2014/main" id="{76ACAD56-D40B-66AB-2AAA-DEAEDE04C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6866" y="1348735"/>
            <a:ext cx="8440615" cy="4594865"/>
          </a:xfrm>
          <a:prstGeom prst="rect">
            <a:avLst/>
          </a:prstGeom>
        </p:spPr>
      </p:pic>
    </p:spTree>
    <p:extLst>
      <p:ext uri="{BB962C8B-B14F-4D97-AF65-F5344CB8AC3E}">
        <p14:creationId xmlns:p14="http://schemas.microsoft.com/office/powerpoint/2010/main" val="476150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Conclusion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838200" y="1929384"/>
            <a:ext cx="10515600" cy="4251960"/>
          </a:xfrm>
        </p:spPr>
        <p:txBody>
          <a:bodyPr vert="horz" lIns="91440" tIns="45720" rIns="91440" bIns="45720" rtlCol="0">
            <a:normAutofit/>
          </a:bodyPr>
          <a:lstStyle/>
          <a:p>
            <a:pPr marL="0" indent="0">
              <a:buNone/>
            </a:pPr>
            <a:r>
              <a:rPr lang="en-US" dirty="0"/>
              <a:t>The project successfully implemented a machine learning model to predict house prices. The Linear Regression model provided a reasonable prediction accuracy, demonstrating the usefulness of AI/ML in real estate price estimation.</a:t>
            </a:r>
          </a:p>
          <a:p>
            <a:pPr marL="0" indent="0">
              <a:buNone/>
            </a:pPr>
            <a:r>
              <a:rPr lang="en-US" sz="2400" dirty="0"/>
              <a:t> </a:t>
            </a:r>
          </a:p>
        </p:txBody>
      </p:sp>
    </p:spTree>
    <p:extLst>
      <p:ext uri="{BB962C8B-B14F-4D97-AF65-F5344CB8AC3E}">
        <p14:creationId xmlns:p14="http://schemas.microsoft.com/office/powerpoint/2010/main" val="2245309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Future scope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121920" y="1788160"/>
            <a:ext cx="11958320" cy="4911344"/>
          </a:xfrm>
        </p:spPr>
        <p:txBody>
          <a:bodyPr vert="horz" lIns="91440" tIns="45720" rIns="91440" bIns="45720" rtlCol="0">
            <a:normAutofit/>
          </a:bodyPr>
          <a:lstStyle/>
          <a:p>
            <a:pPr marL="0" indent="0">
              <a:spcBef>
                <a:spcPct val="20000"/>
              </a:spcBef>
              <a:spcAft>
                <a:spcPts val="600"/>
              </a:spcAft>
              <a:buNone/>
            </a:pPr>
            <a:r>
              <a:rPr lang="en-US" dirty="0"/>
              <a:t>The house price prediction system can be enhanced by integrating advanced models like neural networks or ensemble methods to improve accuracy. Real-time data feeds from property APIs and economic indicators (e.g., interest rates) could dynamically update predictions. Expanding into geospatial analysis (proximity to amenities) and climate risk assessment (flood zones) would add depth, while deploying a user-friendly web/mobile app with explainable AI (SHAP values) would make the tool accessible to buyers and agents. Future work could also extend the model to commercial real estate and rental yield prediction, leveraging blockchain for transparent data logging.</a:t>
            </a:r>
            <a:endParaRPr lang="en-GB" dirty="0"/>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838200" y="365125"/>
            <a:ext cx="10515600" cy="1325563"/>
          </a:xfrm>
        </p:spPr>
        <p:txBody>
          <a:bodyPr>
            <a:normAutofit/>
          </a:bodyPr>
          <a:lstStyle/>
          <a:p>
            <a:r>
              <a:rPr lang="en-US" sz="5400" b="1" cap="all">
                <a:latin typeface="Arial"/>
                <a:cs typeface="Arial"/>
              </a:rPr>
              <a:t>References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1600" dirty="0"/>
              <a:t>This project was made possible with the help of online tools and guides. The machine learning model was built using </a:t>
            </a:r>
            <a:r>
              <a:rPr lang="en-US" sz="1600" b="1" dirty="0"/>
              <a:t>Scikit-learn</a:t>
            </a:r>
            <a:r>
              <a:rPr lang="en-US" sz="1600" dirty="0"/>
              <a:t>, a popular Python library for AI tasks. For handling and organizing the data, we used </a:t>
            </a:r>
            <a:r>
              <a:rPr lang="en-US" sz="1600" b="1" dirty="0"/>
              <a:t>Pandas </a:t>
            </a:r>
            <a:r>
              <a:rPr lang="en-US" sz="1600" dirty="0"/>
              <a:t>and </a:t>
            </a:r>
            <a:r>
              <a:rPr lang="en-US" sz="1600" b="1" dirty="0"/>
              <a:t>NumPy. </a:t>
            </a:r>
            <a:r>
              <a:rPr lang="en-US" sz="1600" dirty="0"/>
              <a:t>To create charts and graphs, we relied on </a:t>
            </a:r>
            <a:r>
              <a:rPr lang="en-US" sz="1600" b="1" dirty="0"/>
              <a:t>Matplotlib</a:t>
            </a:r>
            <a:r>
              <a:rPr lang="en-US" sz="1600" dirty="0"/>
              <a:t> and </a:t>
            </a:r>
            <a:r>
              <a:rPr lang="en-US" sz="1600" b="1" dirty="0"/>
              <a:t>Seaborn</a:t>
            </a:r>
            <a:r>
              <a:rPr lang="en-US" sz="1600" dirty="0"/>
              <a:t>. The housing data came from </a:t>
            </a:r>
            <a:r>
              <a:rPr lang="en-US" sz="1600" b="1" dirty="0"/>
              <a:t>Kaggle</a:t>
            </a:r>
            <a:r>
              <a:rPr lang="en-US" sz="1600" dirty="0"/>
              <a:t>, a free website with ready-to-use datasets. We also learned key techniques from Python’s official guides and beginner-friendly machine learning tutorials. </a:t>
            </a:r>
          </a:p>
          <a:p>
            <a:pPr marL="0" indent="0">
              <a:buNone/>
            </a:pPr>
            <a:r>
              <a:rPr lang="en-US" sz="1600"/>
              <a:t> </a:t>
            </a:r>
            <a:r>
              <a:rPr lang="en-IN" sz="1600">
                <a:latin typeface="Franklin Gothic Book"/>
              </a:rPr>
              <a:t>GitHub </a:t>
            </a:r>
            <a:r>
              <a:rPr lang="en-IN" sz="1600" dirty="0">
                <a:latin typeface="Franklin Gothic Book"/>
              </a:rPr>
              <a:t>Link:</a:t>
            </a:r>
            <a:r>
              <a:rPr lang="en-IN" sz="1600" dirty="0">
                <a:solidFill>
                  <a:srgbClr val="0070C0"/>
                </a:solidFill>
                <a:latin typeface="Franklin Gothic Book"/>
              </a:rPr>
              <a:t> https://github.com/KrutikaMohanty2005/HOUSE_PRICE_PREDICTION</a:t>
            </a:r>
            <a:endParaRPr lang="en-IN" sz="1600" u="sng" dirty="0">
              <a:solidFill>
                <a:srgbClr val="0070C0"/>
              </a:solidFill>
              <a:latin typeface="Franklin Gothic Book"/>
            </a:endParaRPr>
          </a:p>
          <a:p>
            <a:pPr marL="0" indent="0">
              <a:buNone/>
            </a:pPr>
            <a:endParaRPr lang="en-IN" sz="16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2B4E14-CB16-A18D-91E1-78787A45602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2B90035-F7DF-B222-A678-18C907CDC7DD}"/>
              </a:ext>
            </a:extLst>
          </p:cNvPr>
          <p:cNvSpPr txBox="1"/>
          <p:nvPr/>
        </p:nvSpPr>
        <p:spPr>
          <a:xfrm>
            <a:off x="838200" y="451381"/>
            <a:ext cx="10512552" cy="406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a:solidFill>
                  <a:schemeClr val="tx1"/>
                </a:solidFill>
                <a:latin typeface="+mj-lt"/>
                <a:ea typeface="+mj-ea"/>
                <a:cs typeface="+mj-cs"/>
              </a:rPr>
              <a:t>Thank you</a:t>
            </a:r>
            <a:endParaRPr lang="en-US" sz="6600" kern="1200">
              <a:solidFill>
                <a:schemeClr val="tx1"/>
              </a:solidFill>
              <a:latin typeface="+mj-lt"/>
              <a:ea typeface="+mj-ea"/>
              <a:cs typeface="+mj-cs"/>
            </a:endParaRPr>
          </a:p>
        </p:txBody>
      </p:sp>
      <p:sp>
        <p:nvSpPr>
          <p:cNvPr id="24"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5498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206</TotalTime>
  <Words>1773</Words>
  <Application>Microsoft Office PowerPoint</Application>
  <PresentationFormat>Widescreen</PresentationFormat>
  <Paragraphs>173</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Franklin Gothic Book</vt:lpstr>
      <vt:lpstr>office theme</vt:lpstr>
      <vt:lpstr>CAPSTONE PROJECT  HOUSE PRICE PREDICATION</vt:lpstr>
      <vt:lpstr>OUTLINE</vt:lpstr>
      <vt:lpstr>Problem Statement</vt:lpstr>
      <vt:lpstr>Proposed Solution</vt:lpstr>
      <vt:lpstr>PowerPoint Presentation</vt:lpstr>
      <vt:lpstr>System  Approach</vt:lpstr>
      <vt:lpstr>PowerPoint Presentation</vt:lpstr>
      <vt:lpstr>Algorithm &amp; Deployment</vt:lpstr>
      <vt:lpstr>                                                                                                                   </vt:lpstr>
      <vt:lpstr>                                                                                                                                           </vt:lpstr>
      <vt:lpstr>Result</vt:lpstr>
      <vt:lpstr>                                                                                                                    </vt:lpstr>
      <vt:lpstr> Pair-plot relationships: Linear relationships between all features and price justify using Linear Regression. Larger homes (Area) consistently command higher prices. </vt:lpstr>
      <vt:lpstr>                                                                                                                                                                                                         </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karthiga</dc:creator>
  <cp:lastModifiedBy>KRUTIKA MOHANTY</cp:lastModifiedBy>
  <cp:revision>11</cp:revision>
  <dcterms:created xsi:type="dcterms:W3CDTF">2013-07-15T20:26:40Z</dcterms:created>
  <dcterms:modified xsi:type="dcterms:W3CDTF">2025-07-13T15:37:15Z</dcterms:modified>
</cp:coreProperties>
</file>